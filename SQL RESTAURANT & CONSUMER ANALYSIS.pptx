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8" r:id="rId10"/>
    <p:sldId id="265" r:id="rId11"/>
    <p:sldId id="266" r:id="rId12"/>
    <p:sldId id="269" r:id="rId13"/>
    <p:sldId id="267" r:id="rId14"/>
    <p:sldId id="259" r:id="rId15"/>
  </p:sldIdLst>
  <p:sldSz cx="12192000" cy="6858000"/>
  <p:notesSz cx="6858000" cy="9144000"/>
  <p:embeddedFontLst>
    <p:embeddedFont>
      <p:font typeface="Lato Black" panose="020F0502020204030203" pitchFamily="34" charset="0"/>
      <p:bold r:id="rId17"/>
      <p:boldItalic r:id="rId18"/>
    </p:embeddedFont>
    <p:embeddedFont>
      <p:font typeface="Libre Baskerville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k-ramthu-23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amthu-info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mthu-info/SQL-Restaurant-Consumer-Analysis" TargetMode="External"/><Relationship Id="rId2" Type="http://schemas.openxmlformats.org/officeDocument/2006/relationships/hyperlink" Target="https://lnkd.in/p/gPNS8Kyp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727428" y="3538214"/>
            <a:ext cx="724618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2300" b="1" dirty="0"/>
              <a:t>SQL RESTAURANT &amp; CONSUMER ANALYSIS</a:t>
            </a:r>
          </a:p>
          <a:p>
            <a:pPr lvl="0" algn="ctr">
              <a:buSzPts val="1800"/>
            </a:pPr>
            <a:endParaRPr lang="en-US" sz="23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568B7-1E55-2D91-5558-EC10A50A52B0}"/>
              </a:ext>
            </a:extLst>
          </p:cNvPr>
          <p:cNvSpPr txBox="1"/>
          <p:nvPr/>
        </p:nvSpPr>
        <p:spPr>
          <a:xfrm>
            <a:off x="7699401" y="5423603"/>
            <a:ext cx="616984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:  Shaik </a:t>
            </a:r>
            <a:r>
              <a:rPr lang="en-US"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Rahamthulla</a:t>
            </a: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 : 81021201834</a:t>
            </a:r>
          </a:p>
          <a:p>
            <a:pPr lvl="1"/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:  Data Analytics Training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A528A-5937-CF8A-8CBF-C846401493B8}"/>
              </a:ext>
            </a:extLst>
          </p:cNvPr>
          <p:cNvSpPr txBox="1"/>
          <p:nvPr/>
        </p:nvSpPr>
        <p:spPr>
          <a:xfrm>
            <a:off x="2558278" y="4085342"/>
            <a:ext cx="72461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500" dirty="0"/>
              <a:t>Using SQL for Data Exploration and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639141" y="969233"/>
            <a:ext cx="10913718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2400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Artificial Intelligence &amp; Machine Learning, Sri Vasavi Engineering College (2025), CGPA 7.83/10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 experience in Python, SQL, and Power BI through academic and training projects in data analysis, web scraping, and application development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Fresher — currently pursuing the Data Analytics Training Program at </a:t>
            </a:r>
            <a:r>
              <a:rPr lang="en-IN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Innomatics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Research Labs (since March 2026)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Certifications: ServiceNow CSA &amp; CAD, Microsoft Fabric Data Engineer Associate, Microsoft Fabric Analytics Engineer Associate, NPTEL Machine Learning</a:t>
            </a:r>
          </a:p>
          <a:p>
            <a:pPr lvl="0">
              <a:buClr>
                <a:schemeClr val="dk1"/>
              </a:buClr>
              <a:buSzPts val="2400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LinkedIn: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https://www.linkedin.com/in/sk-ramthu-23r</a:t>
            </a: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https://github.com/Ramthu-info</a:t>
            </a: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55936" y="482986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378155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472422" y="1343818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b="1" dirty="0"/>
              <a:t>Agenda</a:t>
            </a:r>
          </a:p>
          <a:p>
            <a:r>
              <a:rPr lang="en-US" sz="2400" b="1" dirty="0"/>
              <a:t>Objective of the Project</a:t>
            </a:r>
            <a:r>
              <a:rPr lang="en-US" sz="2400" dirty="0"/>
              <a:t> </a:t>
            </a:r>
          </a:p>
          <a:p>
            <a:r>
              <a:rPr lang="en-US" sz="2400" b="1" dirty="0"/>
              <a:t>Key Analysis Questions (Use Cases)</a:t>
            </a:r>
            <a:r>
              <a:rPr lang="en-US" sz="2400" dirty="0"/>
              <a:t> </a:t>
            </a:r>
          </a:p>
          <a:p>
            <a:r>
              <a:rPr lang="en-US" sz="2400" b="1" dirty="0"/>
              <a:t>Conclusion (Key Findings Overall)</a:t>
            </a:r>
            <a:r>
              <a:rPr lang="en-US" sz="2400" dirty="0"/>
              <a:t> </a:t>
            </a:r>
          </a:p>
          <a:p>
            <a:r>
              <a:rPr lang="en-US" sz="2400" b="1" dirty="0"/>
              <a:t>Q&amp;A</a:t>
            </a:r>
            <a:r>
              <a:rPr lang="en-US" sz="2400" dirty="0"/>
              <a:t> </a:t>
            </a:r>
          </a:p>
          <a:p>
            <a:r>
              <a:rPr lang="en-US" sz="2400" b="1" dirty="0"/>
              <a:t>My Experience / Challenges Working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8CC5-0CFC-2668-35F4-61CB9092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84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OBJECTIVE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19CC6-2585-E1B4-762E-E72F04392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336" y="895111"/>
            <a:ext cx="11698664" cy="5887475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Main Objective</a:t>
            </a:r>
          </a:p>
          <a:p>
            <a:pPr marL="114300" indent="0">
              <a:buNone/>
            </a:pPr>
            <a:r>
              <a:rPr lang="en-US" sz="1600" dirty="0"/>
              <a:t>Analyze restaurant and consumer data using SQL to find useful patterns and insights.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b="1" dirty="0"/>
              <a:t>What We Have</a:t>
            </a:r>
          </a:p>
          <a:p>
            <a:r>
              <a:rPr lang="en-US" sz="1600" dirty="0"/>
              <a:t>5 database tables</a:t>
            </a:r>
          </a:p>
          <a:p>
            <a:r>
              <a:rPr lang="en-US" sz="1600" dirty="0"/>
              <a:t>70,000+ data records</a:t>
            </a:r>
          </a:p>
          <a:p>
            <a:r>
              <a:rPr lang="en-US" sz="1600" dirty="0"/>
              <a:t>Restaurants, Consumers, and Ratings data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b="1" dirty="0"/>
              <a:t>What I Learned</a:t>
            </a:r>
          </a:p>
          <a:p>
            <a:r>
              <a:rPr lang="en-US" sz="1600" dirty="0"/>
              <a:t>Basic SQL: SELECT, WHERE, JOIN, GROUP BY</a:t>
            </a:r>
          </a:p>
          <a:p>
            <a:r>
              <a:rPr lang="en-US" sz="1600" dirty="0"/>
              <a:t>Advanced SQL: CTEs, Window Functions, Views, Stored Procedures</a:t>
            </a:r>
          </a:p>
          <a:p>
            <a:r>
              <a:rPr lang="en-US" sz="1600" dirty="0"/>
              <a:t>How to extract business insights from data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b="1" dirty="0"/>
              <a:t>Queries Completed</a:t>
            </a:r>
          </a:p>
          <a:p>
            <a:r>
              <a:rPr lang="en-US" sz="1600" dirty="0"/>
              <a:t>Basic Filtering: 5 queries</a:t>
            </a:r>
          </a:p>
          <a:p>
            <a:r>
              <a:rPr lang="en-US" sz="1600" dirty="0"/>
              <a:t>JOINs &amp; Subqueries: 10 queries 		TOTAL: 32 SQL Queries</a:t>
            </a:r>
          </a:p>
          <a:p>
            <a:r>
              <a:rPr lang="en-US" sz="1600" dirty="0"/>
              <a:t>Aggregation: 5 queries</a:t>
            </a:r>
          </a:p>
          <a:p>
            <a:r>
              <a:rPr lang="en-US" sz="1600" dirty="0"/>
              <a:t>Advanced Topics: 12 queries 	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F5FAA56F-283F-F1F5-3C95-5B5A8F67A627}"/>
              </a:ext>
            </a:extLst>
          </p:cNvPr>
          <p:cNvSpPr/>
          <p:nvPr/>
        </p:nvSpPr>
        <p:spPr>
          <a:xfrm>
            <a:off x="4289196" y="5020210"/>
            <a:ext cx="669303" cy="149886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4466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BCB1-E936-ED92-8069-E91057D82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579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KEY ANALYSIS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C4CEE-2EBF-C155-98BA-1EA7DFB6F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58358"/>
            <a:ext cx="10515600" cy="5451868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b="1" dirty="0"/>
              <a:t>Key Analysis Questions / Use Cases</a:t>
            </a:r>
          </a:p>
          <a:p>
            <a:r>
              <a:rPr lang="en-US" sz="2000" b="1" dirty="0"/>
              <a:t>Consumer Analysis</a:t>
            </a:r>
          </a:p>
          <a:p>
            <a:r>
              <a:rPr lang="en-US" sz="2000" dirty="0"/>
              <a:t>Find consumers from specific cities </a:t>
            </a:r>
          </a:p>
          <a:p>
            <a:r>
              <a:rPr lang="en-US" sz="2000" dirty="0"/>
              <a:t>Identify student consumers who smoke </a:t>
            </a:r>
          </a:p>
          <a:p>
            <a:r>
              <a:rPr lang="en-US" sz="2000" dirty="0"/>
              <a:t>Analyze consumer demographics </a:t>
            </a:r>
          </a:p>
          <a:p>
            <a:r>
              <a:rPr lang="en-US" sz="2000" dirty="0"/>
              <a:t>Find consumers based on cuisine preferences </a:t>
            </a:r>
          </a:p>
          <a:p>
            <a:r>
              <a:rPr lang="en-US" sz="2000" dirty="0"/>
              <a:t>Compare consumers based on their ratings </a:t>
            </a:r>
          </a:p>
          <a:p>
            <a:endParaRPr lang="en-US" sz="2000" dirty="0"/>
          </a:p>
          <a:p>
            <a:pPr marL="114300" indent="0">
              <a:buNone/>
            </a:pPr>
            <a:r>
              <a:rPr lang="en-US" sz="2000" b="1" dirty="0"/>
              <a:t>Restaurant Analysis</a:t>
            </a:r>
          </a:p>
          <a:p>
            <a:r>
              <a:rPr lang="en-US" sz="2000" dirty="0"/>
              <a:t>Find medium-priced restaurants </a:t>
            </a:r>
          </a:p>
          <a:p>
            <a:r>
              <a:rPr lang="en-US" sz="2000" dirty="0"/>
              <a:t>Find restaurants offering wine and beer </a:t>
            </a:r>
          </a:p>
          <a:p>
            <a:r>
              <a:rPr lang="en-US" sz="2000" dirty="0"/>
              <a:t>Identify franchise restaurants </a:t>
            </a:r>
          </a:p>
          <a:p>
            <a:r>
              <a:rPr lang="en-US" sz="2000" dirty="0"/>
              <a:t>Find highly-rated restaurants </a:t>
            </a:r>
          </a:p>
          <a:p>
            <a:r>
              <a:rPr lang="en-US" sz="2000" dirty="0"/>
              <a:t>Identify restaurants serving Mexican cuisine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1861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63A70-9A64-23E4-7998-54FB530BB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" y="5700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KEY ANALYSIS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3E0BF-FF36-92BD-8C6F-4AFEC5B76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078" y="986640"/>
            <a:ext cx="10515600" cy="5814357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b="1" dirty="0"/>
              <a:t>Key Analysis Questions / Use Cases</a:t>
            </a:r>
          </a:p>
          <a:p>
            <a:pPr marL="114300" indent="0">
              <a:buNone/>
            </a:pPr>
            <a:r>
              <a:rPr lang="en-US" sz="2000" b="1" dirty="0"/>
              <a:t>Rating Analysis</a:t>
            </a:r>
          </a:p>
          <a:p>
            <a:r>
              <a:rPr lang="en-US" sz="2000" dirty="0"/>
              <a:t>Find restaurants rated in specific cities </a:t>
            </a:r>
          </a:p>
          <a:p>
            <a:r>
              <a:rPr lang="en-US" sz="2000" dirty="0"/>
              <a:t>Find consumers with food ratings below the average </a:t>
            </a:r>
          </a:p>
          <a:p>
            <a:r>
              <a:rPr lang="en-US" sz="2000" dirty="0"/>
              <a:t>Identify consumers who rated non-Italian restaurants </a:t>
            </a:r>
          </a:p>
          <a:p>
            <a:r>
              <a:rPr lang="en-US" sz="2000" dirty="0"/>
              <a:t>Compare food and service ratings </a:t>
            </a:r>
          </a:p>
          <a:p>
            <a:r>
              <a:rPr lang="en-US" sz="2000" dirty="0"/>
              <a:t>Find restaurants performing above the average 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2000" b="1" dirty="0"/>
              <a:t>Advanced Analysis</a:t>
            </a:r>
          </a:p>
          <a:p>
            <a:r>
              <a:rPr lang="en-US" sz="2000" dirty="0"/>
              <a:t>Rank restaurants based on ratings </a:t>
            </a:r>
          </a:p>
          <a:p>
            <a:r>
              <a:rPr lang="en-US" sz="2000" dirty="0"/>
              <a:t>Analyze rating patterns within restaurants </a:t>
            </a:r>
          </a:p>
          <a:p>
            <a:r>
              <a:rPr lang="en-US" sz="2000" dirty="0"/>
              <a:t>Find top preferred cuisines </a:t>
            </a:r>
          </a:p>
          <a:p>
            <a:r>
              <a:rPr lang="en-US" sz="2000" dirty="0"/>
              <a:t>Compare consumer and restaurant performance </a:t>
            </a:r>
          </a:p>
          <a:p>
            <a:r>
              <a:rPr lang="en-US" sz="2000" dirty="0"/>
              <a:t>Use multiple tables to answer complex questions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9960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89F01-39C0-35B9-3137-16CDB1EF6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14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SQL ANALYSIS &amp; CONCEPTS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697D-D078-3C09-0FCC-8EC972128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7627" y="1052626"/>
            <a:ext cx="4959284" cy="5376453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b="1" dirty="0"/>
              <a:t>SQL Concepts Used</a:t>
            </a:r>
          </a:p>
          <a:p>
            <a:pPr marL="114300" indent="0">
              <a:buNone/>
            </a:pPr>
            <a:r>
              <a:rPr lang="en-US" sz="2000" b="1" dirty="0"/>
              <a:t>Basic SQL</a:t>
            </a:r>
          </a:p>
          <a:p>
            <a:r>
              <a:rPr lang="en-US" sz="2000" dirty="0"/>
              <a:t>SELECT </a:t>
            </a:r>
          </a:p>
          <a:p>
            <a:r>
              <a:rPr lang="en-US" sz="2000" dirty="0"/>
              <a:t>WHERE </a:t>
            </a:r>
          </a:p>
          <a:p>
            <a:r>
              <a:rPr lang="en-US" sz="2000" dirty="0"/>
              <a:t>ORDER BY </a:t>
            </a:r>
          </a:p>
          <a:p>
            <a:r>
              <a:rPr lang="en-US" sz="2000" dirty="0"/>
              <a:t>GROUP BY </a:t>
            </a:r>
          </a:p>
          <a:p>
            <a:r>
              <a:rPr lang="en-US" sz="2000" dirty="0"/>
              <a:t>HAVING </a:t>
            </a:r>
          </a:p>
          <a:p>
            <a:pPr marL="114300" indent="0">
              <a:buNone/>
            </a:pPr>
            <a:r>
              <a:rPr lang="en-US" sz="2000" b="1" dirty="0"/>
              <a:t>JOINs &amp; Subqueries</a:t>
            </a:r>
          </a:p>
          <a:p>
            <a:r>
              <a:rPr lang="en-US" sz="2000" dirty="0"/>
              <a:t>INNER JOIN ,LEFT JOIN,RIGHT JOIN </a:t>
            </a:r>
          </a:p>
          <a:p>
            <a:r>
              <a:rPr lang="en-US" sz="2000" dirty="0"/>
              <a:t>Subqueries </a:t>
            </a:r>
          </a:p>
          <a:p>
            <a:r>
              <a:rPr lang="en-US" sz="2000" dirty="0"/>
              <a:t>IN </a:t>
            </a:r>
          </a:p>
          <a:p>
            <a:r>
              <a:rPr lang="en-US" sz="2000" dirty="0"/>
              <a:t>NOT IN </a:t>
            </a:r>
          </a:p>
          <a:p>
            <a:r>
              <a:rPr lang="en-US" sz="2000" dirty="0"/>
              <a:t>EXISTS </a:t>
            </a: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C33995-B0BC-3DE9-E2AD-2DDC1792FAC2}"/>
              </a:ext>
            </a:extLst>
          </p:cNvPr>
          <p:cNvSpPr txBox="1"/>
          <p:nvPr/>
        </p:nvSpPr>
        <p:spPr>
          <a:xfrm>
            <a:off x="6746450" y="1052626"/>
            <a:ext cx="6094428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Advanced SQL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CTEs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Window Functions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Views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Stored Procedures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Derived Tables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Window Functions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ROW_NUMBER()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RANK()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LEAD()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AVG() OVER()</a:t>
            </a:r>
          </a:p>
        </p:txBody>
      </p:sp>
    </p:spTree>
    <p:extLst>
      <p:ext uri="{BB962C8B-B14F-4D97-AF65-F5344CB8AC3E}">
        <p14:creationId xmlns:p14="http://schemas.microsoft.com/office/powerpoint/2010/main" val="3809910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9F0B5-8A63-94DF-2893-3AC2C008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433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OVERALL KEY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51BC1-6A4C-4009-A63A-1F0912A8E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71" y="999242"/>
            <a:ext cx="10515600" cy="5495826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b="1" dirty="0"/>
              <a:t>Key Findings Overall</a:t>
            </a:r>
          </a:p>
          <a:p>
            <a:pPr marL="114300" indent="0">
              <a:buNone/>
            </a:pPr>
            <a:r>
              <a:rPr lang="en-US" sz="2000" b="1" dirty="0"/>
              <a:t>Consumer Insights</a:t>
            </a:r>
          </a:p>
          <a:p>
            <a:r>
              <a:rPr lang="en-US" sz="2000" dirty="0"/>
              <a:t>Students showed a preference for </a:t>
            </a:r>
            <a:r>
              <a:rPr lang="en-US" sz="2000" b="1" dirty="0"/>
              <a:t>low-budget and pizzeria options</a:t>
            </a:r>
            <a:r>
              <a:rPr lang="en-US" sz="2000" dirty="0"/>
              <a:t> </a:t>
            </a:r>
          </a:p>
          <a:p>
            <a:r>
              <a:rPr lang="en-US" sz="2000" dirty="0"/>
              <a:t>Medium-budget consumers were active in restaurant ratings </a:t>
            </a:r>
          </a:p>
          <a:p>
            <a:r>
              <a:rPr lang="en-US" sz="2000" dirty="0"/>
              <a:t>Consumer demographics helped identify different preference patterns 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2000" b="1" dirty="0"/>
              <a:t>Restaurant Insights</a:t>
            </a:r>
          </a:p>
          <a:p>
            <a:r>
              <a:rPr lang="en-US" sz="2000" dirty="0"/>
              <a:t>Mexican cuisine showed strong ratings in the analysis </a:t>
            </a:r>
          </a:p>
          <a:p>
            <a:r>
              <a:rPr lang="en-US" sz="2000" dirty="0"/>
              <a:t>Pizzeria restaurants attracted the student segment </a:t>
            </a:r>
          </a:p>
          <a:p>
            <a:r>
              <a:rPr lang="en-US" sz="2000" dirty="0"/>
              <a:t>Franchise restaurants showed more consistent quality 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2000" b="1" dirty="0"/>
              <a:t>Rating Insights</a:t>
            </a:r>
          </a:p>
          <a:p>
            <a:r>
              <a:rPr lang="en-US" sz="2000" dirty="0"/>
              <a:t>Highly satisfactory ratings were common </a:t>
            </a:r>
          </a:p>
          <a:p>
            <a:r>
              <a:rPr lang="en-US" sz="2000" dirty="0"/>
              <a:t>Food and service ratings showed a strong relationship </a:t>
            </a:r>
          </a:p>
          <a:p>
            <a:r>
              <a:rPr lang="en-US" sz="2000" dirty="0"/>
              <a:t>SQL ranking helped identify different restaurant and consumer patterns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06912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55C3C-1F91-0724-B860-CAB57270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E639-3F5F-6371-7C0F-57A3E71B4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433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0618E-8E28-8BC8-1954-16943963D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359" y="1343818"/>
            <a:ext cx="10515600" cy="483314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Conclusion</a:t>
            </a:r>
          </a:p>
          <a:p>
            <a:r>
              <a:rPr lang="en-US" sz="2000" dirty="0"/>
              <a:t>The project helped me analyze restaurant and consumer data using SQL. </a:t>
            </a:r>
          </a:p>
          <a:p>
            <a:r>
              <a:rPr lang="en-US" sz="2000" dirty="0"/>
              <a:t>I worked with multiple related tables and used different types of JOINs. </a:t>
            </a:r>
          </a:p>
          <a:p>
            <a:r>
              <a:rPr lang="en-US" sz="2000" dirty="0"/>
              <a:t>I used </a:t>
            </a:r>
            <a:r>
              <a:rPr lang="en-US" sz="2000" b="1" dirty="0"/>
              <a:t>aggregation, subqueries and filtering</a:t>
            </a:r>
            <a:r>
              <a:rPr lang="en-US" sz="2000" dirty="0"/>
              <a:t> to answer analysis questions. </a:t>
            </a:r>
          </a:p>
          <a:p>
            <a:r>
              <a:rPr lang="en-US" sz="2000" dirty="0"/>
              <a:t>I applied advanced SQL concepts such as </a:t>
            </a:r>
            <a:r>
              <a:rPr lang="en-US" sz="2000" b="1" dirty="0"/>
              <a:t>CTEs and Window Functions</a:t>
            </a:r>
            <a:r>
              <a:rPr lang="en-US" sz="2000" dirty="0"/>
              <a:t>. </a:t>
            </a:r>
          </a:p>
          <a:p>
            <a:r>
              <a:rPr lang="en-US" sz="2000" dirty="0"/>
              <a:t>I also worked with </a:t>
            </a:r>
            <a:r>
              <a:rPr lang="en-US" sz="2000" b="1" dirty="0"/>
              <a:t>Views and Stored Procedures</a:t>
            </a:r>
            <a:r>
              <a:rPr lang="en-US" sz="2000" dirty="0"/>
              <a:t>. </a:t>
            </a:r>
          </a:p>
          <a:p>
            <a:r>
              <a:rPr lang="en-US" sz="2000" dirty="0"/>
              <a:t>The analysis helped identify patterns in </a:t>
            </a:r>
            <a:r>
              <a:rPr lang="en-US" sz="2000" b="1" dirty="0"/>
              <a:t>consumer preferences, restaurant performance and ratings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pPr marL="114300" indent="0">
              <a:buNone/>
            </a:pPr>
            <a:r>
              <a:rPr lang="en-US" sz="2000" b="1" dirty="0"/>
              <a:t>Overall Learning</a:t>
            </a:r>
          </a:p>
          <a:p>
            <a:r>
              <a:rPr lang="en-US" sz="2000" dirty="0"/>
              <a:t>This project helped me understand how SQL can be used to analyze real-world data and generate useful insights.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46234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3CF49-1D1A-2AF1-82C2-675375ECD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25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MY EXPERIENCE /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58F8A-20F9-047B-B378-83D6139D6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797" y="1517282"/>
            <a:ext cx="10515600" cy="4351338"/>
          </a:xfrm>
        </p:spPr>
        <p:txBody>
          <a:bodyPr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US" sz="2000" b="1" dirty="0"/>
              <a:t>Challenge 1 — Complex JOINs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Problem:</a:t>
            </a:r>
            <a:br>
              <a:rPr lang="en-US" sz="2000" dirty="0"/>
            </a:br>
            <a:r>
              <a:rPr lang="en-US" sz="2000" dirty="0"/>
              <a:t>Connecting multiple tables was difficult initially.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Solution:</a:t>
            </a:r>
            <a:br>
              <a:rPr lang="en-US" sz="2000" dirty="0"/>
            </a:br>
            <a:r>
              <a:rPr lang="en-US" sz="2000" dirty="0"/>
              <a:t>I understood the relationships between tables and tested the JOINs step by step.</a:t>
            </a:r>
          </a:p>
          <a:p>
            <a:pPr marL="114300" indent="0">
              <a:lnSpc>
                <a:spcPct val="100000"/>
              </a:lnSpc>
              <a:buNone/>
            </a:pPr>
            <a:endParaRPr lang="en-US" sz="2000" dirty="0"/>
          </a:p>
          <a:p>
            <a:pPr marL="114300" indent="0">
              <a:lnSpc>
                <a:spcPct val="100000"/>
              </a:lnSpc>
              <a:buNone/>
            </a:pPr>
            <a:r>
              <a:rPr lang="en-US" sz="2000" b="1" dirty="0"/>
              <a:t>Challenge 2 — Window Functions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Problem:</a:t>
            </a:r>
            <a:br>
              <a:rPr lang="en-US" sz="2000" dirty="0"/>
            </a:br>
            <a:r>
              <a:rPr lang="en-US" sz="2000" dirty="0"/>
              <a:t>Understanding PARTITION BY and ORDER BY was challenging.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Solution:</a:t>
            </a:r>
            <a:br>
              <a:rPr lang="en-US" sz="2000" dirty="0"/>
            </a:br>
            <a:r>
              <a:rPr lang="en-US" sz="2000" dirty="0"/>
              <a:t>I started with simple ranking queries and gradually moved to complex queries.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5086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65896-26CD-EFDD-FF01-A07E63071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38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MY EXPERIENCE / CHALLENGES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0F043-0CC6-D0C2-14CC-EF3991BC9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957" y="1505114"/>
            <a:ext cx="10515600" cy="4351338"/>
          </a:xfrm>
        </p:spPr>
        <p:txBody>
          <a:bodyPr>
            <a:norm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US" sz="2000" b="1" dirty="0"/>
              <a:t>Challenge 3 — Subqueries &amp; CTEs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Problem:</a:t>
            </a:r>
            <a:br>
              <a:rPr lang="en-US" sz="2000" dirty="0"/>
            </a:br>
            <a:r>
              <a:rPr lang="en-US" sz="2000" dirty="0"/>
              <a:t>Understanding when to use subqueries and CTEs.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Solution:</a:t>
            </a:r>
            <a:br>
              <a:rPr lang="en-US" sz="2000" dirty="0"/>
            </a:br>
            <a:r>
              <a:rPr lang="en-US" sz="2000" dirty="0"/>
              <a:t>I practiced different queries and compared the results.</a:t>
            </a:r>
          </a:p>
          <a:p>
            <a:pPr>
              <a:lnSpc>
                <a:spcPct val="100000"/>
              </a:lnSpc>
            </a:pPr>
            <a:endParaRPr lang="en-US" sz="2000" dirty="0"/>
          </a:p>
          <a:p>
            <a:pPr marL="114300" indent="0">
              <a:lnSpc>
                <a:spcPct val="100000"/>
              </a:lnSpc>
              <a:buNone/>
            </a:pPr>
            <a:r>
              <a:rPr lang="en-US" sz="2000" b="1" dirty="0"/>
              <a:t>Challenge 4 — Stored Procedures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Problem:</a:t>
            </a:r>
            <a:br>
              <a:rPr lang="en-US" sz="2000" dirty="0"/>
            </a:br>
            <a:r>
              <a:rPr lang="en-US" sz="2000" dirty="0"/>
              <a:t>Handling parameters and complex query logic.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Solution:</a:t>
            </a:r>
            <a:br>
              <a:rPr lang="en-US" sz="2000" dirty="0"/>
            </a:br>
            <a:r>
              <a:rPr lang="en-US" sz="2000" dirty="0"/>
              <a:t>I created the procedure step by step and tested it using CALL.</a:t>
            </a:r>
          </a:p>
        </p:txBody>
      </p:sp>
    </p:spTree>
    <p:extLst>
      <p:ext uri="{BB962C8B-B14F-4D97-AF65-F5344CB8AC3E}">
        <p14:creationId xmlns:p14="http://schemas.microsoft.com/office/powerpoint/2010/main" val="2886476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2E0A5-840F-F021-C75A-471E8B7B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51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WHAT I LEARNED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D9151-201A-DF12-2F38-631256920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207" y="1343818"/>
            <a:ext cx="10675070" cy="5451867"/>
          </a:xfrm>
        </p:spPr>
        <p:txBody>
          <a:bodyPr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US" sz="1700" b="1" dirty="0"/>
              <a:t>Key Learnings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Test queries step-by-step, don't write everything at once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CTEs make complex queries readable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Indexes improve query speed significantly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Window functions are powerful tools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Always verify results with sample data</a:t>
            </a:r>
          </a:p>
          <a:p>
            <a:pPr>
              <a:lnSpc>
                <a:spcPct val="100000"/>
              </a:lnSpc>
            </a:pPr>
            <a:endParaRPr lang="en-US" sz="1700" dirty="0"/>
          </a:p>
          <a:p>
            <a:pPr marL="114300" indent="0">
              <a:lnSpc>
                <a:spcPct val="100000"/>
              </a:lnSpc>
              <a:buNone/>
            </a:pPr>
            <a:r>
              <a:rPr lang="en-US" sz="1700" b="1" dirty="0"/>
              <a:t>Skills Gained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Advanced SQL programming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Database optimization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Problem-solving with data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Professional coding practices</a:t>
            </a:r>
          </a:p>
        </p:txBody>
      </p:sp>
    </p:spTree>
    <p:extLst>
      <p:ext uri="{BB962C8B-B14F-4D97-AF65-F5344CB8AC3E}">
        <p14:creationId xmlns:p14="http://schemas.microsoft.com/office/powerpoint/2010/main" val="381684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4C3D-3349-B35A-9374-8A54B4C7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689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Q&amp;A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14490-2751-0D55-47C8-287CDBDD1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090" y="1027088"/>
            <a:ext cx="11105561" cy="5713078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b="1" dirty="0"/>
              <a:t>Questions &amp; Answers</a:t>
            </a:r>
          </a:p>
          <a:p>
            <a:pPr marL="114300" indent="0">
              <a:buNone/>
            </a:pPr>
            <a:r>
              <a:rPr lang="en-US" sz="2000" b="1" dirty="0"/>
              <a:t>❓ Do you have any questions about: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2000" dirty="0"/>
              <a:t>   • Query logic or SQL concepts?</a:t>
            </a:r>
          </a:p>
          <a:p>
            <a:pPr marL="114300" indent="0">
              <a:buNone/>
            </a:pPr>
            <a:r>
              <a:rPr lang="en-US" sz="2000" dirty="0"/>
              <a:t>   • Database design decisions?</a:t>
            </a:r>
          </a:p>
          <a:p>
            <a:pPr marL="114300" indent="0">
              <a:buNone/>
            </a:pPr>
            <a:r>
              <a:rPr lang="en-US" sz="2000" dirty="0"/>
              <a:t>   • Analysis methodology?</a:t>
            </a:r>
          </a:p>
          <a:p>
            <a:pPr marL="114300" indent="0">
              <a:buNone/>
            </a:pPr>
            <a:r>
              <a:rPr lang="en-US" sz="2000" dirty="0"/>
              <a:t>   • Business insights?</a:t>
            </a:r>
          </a:p>
          <a:p>
            <a:pPr marL="114300" indent="0">
              <a:buNone/>
            </a:pPr>
            <a:r>
              <a:rPr lang="en-US" sz="2000" dirty="0"/>
              <a:t>   • Future enhancements?</a:t>
            </a:r>
            <a:endParaRPr lang="en-US" sz="2000" b="1" dirty="0"/>
          </a:p>
          <a:p>
            <a:pPr marL="114300" indent="0">
              <a:lnSpc>
                <a:spcPct val="150000"/>
              </a:lnSpc>
              <a:buNone/>
            </a:pPr>
            <a:r>
              <a:rPr lang="en-US" sz="2000" b="1" dirty="0"/>
              <a:t>📧 Contact:</a:t>
            </a:r>
          </a:p>
          <a:p>
            <a:pPr marL="114300" indent="0">
              <a:buNone/>
            </a:pPr>
            <a:r>
              <a:rPr lang="en-US" sz="2000" dirty="0"/>
              <a:t>   Email: sk.ramthu.23@gmail.com</a:t>
            </a:r>
          </a:p>
          <a:p>
            <a:pPr marL="114300" indent="0">
              <a:buNone/>
            </a:pPr>
            <a:r>
              <a:rPr lang="en-US" sz="2000" dirty="0"/>
              <a:t>   LinkedIn</a:t>
            </a:r>
            <a:r>
              <a:rPr lang="en-US" sz="2000"/>
              <a:t>: </a:t>
            </a:r>
            <a:r>
              <a:rPr lang="en-US" sz="2000">
                <a:hlinkClick r:id="rId2"/>
              </a:rPr>
              <a:t>https://lnkd.in/p/gPNS8Kyp</a:t>
            </a:r>
            <a:endParaRPr lang="en-US" sz="2000"/>
          </a:p>
          <a:p>
            <a:pPr marL="114300" indent="0">
              <a:buNone/>
            </a:pPr>
            <a:r>
              <a:rPr lang="en-US" sz="2000"/>
              <a:t>   </a:t>
            </a:r>
            <a:r>
              <a:rPr lang="en-US" sz="2000" dirty="0"/>
              <a:t>GitHub: </a:t>
            </a:r>
            <a:r>
              <a:rPr lang="en-US" sz="2000" dirty="0">
                <a:hlinkClick r:id="rId3"/>
              </a:rPr>
              <a:t>https://github.com/Ramthu-info/SQL-Restaurant-Consumer-Analysis</a:t>
            </a:r>
            <a:endParaRPr lang="en-US" sz="2000" dirty="0"/>
          </a:p>
          <a:p>
            <a:pPr marL="114300" indent="0">
              <a:buNone/>
            </a:pPr>
            <a:r>
              <a:rPr lang="en-US" sz="2000" b="1" dirty="0"/>
              <a:t>💡 Thank you for your attention!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44685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2063649" y="2498466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891</Words>
  <Application>Microsoft Office PowerPoint</Application>
  <PresentationFormat>Widescreen</PresentationFormat>
  <Paragraphs>162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Lato Black</vt:lpstr>
      <vt:lpstr>Calibri</vt:lpstr>
      <vt:lpstr>Arial</vt:lpstr>
      <vt:lpstr>Libre Baskerville</vt:lpstr>
      <vt:lpstr>Office Theme</vt:lpstr>
      <vt:lpstr>PowerPoint Presentation</vt:lpstr>
      <vt:lpstr>PowerPoint Presentation</vt:lpstr>
      <vt:lpstr>Agenda</vt:lpstr>
      <vt:lpstr>OBJECTIVE OF THE PROJECT</vt:lpstr>
      <vt:lpstr>KEY ANALYSIS QUESTIONS</vt:lpstr>
      <vt:lpstr>KEY ANALYSIS QUESTIONS</vt:lpstr>
      <vt:lpstr>SQL ANALYSIS &amp; CONCEPTS USED</vt:lpstr>
      <vt:lpstr>OVERALL KEY FINDINGS</vt:lpstr>
      <vt:lpstr>CONCLUSION</vt:lpstr>
      <vt:lpstr>MY EXPERIENCE / CHALLENGES</vt:lpstr>
      <vt:lpstr>MY EXPERIENCE / CHALLENGES</vt:lpstr>
      <vt:lpstr>WHAT I LEARNED</vt:lpstr>
      <vt:lpstr>Q&amp;A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Ramthu 😴</cp:lastModifiedBy>
  <cp:revision>8</cp:revision>
  <dcterms:created xsi:type="dcterms:W3CDTF">2021-02-16T05:19:01Z</dcterms:created>
  <dcterms:modified xsi:type="dcterms:W3CDTF">2026-08-29T09:51:15Z</dcterms:modified>
</cp:coreProperties>
</file>