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70" r:id="rId5"/>
    <p:sldId id="260" r:id="rId6"/>
    <p:sldId id="271" r:id="rId7"/>
    <p:sldId id="272" r:id="rId8"/>
    <p:sldId id="263" r:id="rId9"/>
    <p:sldId id="261" r:id="rId10"/>
    <p:sldId id="262" r:id="rId11"/>
    <p:sldId id="264" r:id="rId12"/>
    <p:sldId id="265" r:id="rId13"/>
    <p:sldId id="268" r:id="rId14"/>
    <p:sldId id="259" r:id="rId15"/>
  </p:sldIdLst>
  <p:sldSz cx="12192000" cy="6858000"/>
  <p:notesSz cx="6858000" cy="9144000"/>
  <p:embeddedFontLst>
    <p:embeddedFont>
      <p:font typeface="Lato Black" panose="020F0502020204030203" pitchFamily="34" charset="0"/>
      <p:bold r:id="rId17"/>
      <p:boldItalic r:id="rId18"/>
    </p:embeddedFont>
    <p:embeddedFont>
      <p:font typeface="Libre Baskerville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k-ramthu-23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Ramthu-info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1951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727428" y="3538214"/>
            <a:ext cx="7246189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US" sz="2300" b="1" dirty="0"/>
              <a:t>SQL RESTAURANT &amp; CONSUMER ANALYSIS</a:t>
            </a:r>
          </a:p>
          <a:p>
            <a:pPr lvl="0" algn="ctr">
              <a:buSzPts val="1800"/>
            </a:pPr>
            <a:endParaRPr lang="en-US" sz="23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9568B7-1E55-2D91-5558-EC10A50A52B0}"/>
              </a:ext>
            </a:extLst>
          </p:cNvPr>
          <p:cNvSpPr txBox="1"/>
          <p:nvPr/>
        </p:nvSpPr>
        <p:spPr>
          <a:xfrm>
            <a:off x="7699401" y="5423603"/>
            <a:ext cx="616984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 :  Shaik </a:t>
            </a:r>
            <a:r>
              <a:rPr lang="en-US" sz="1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Rahamthulla</a:t>
            </a: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 : 81021201834</a:t>
            </a:r>
          </a:p>
          <a:p>
            <a:pPr lvl="1"/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 :  Data Analytics Training Program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3A528A-5937-CF8A-8CBF-C846401493B8}"/>
              </a:ext>
            </a:extLst>
          </p:cNvPr>
          <p:cNvSpPr txBox="1"/>
          <p:nvPr/>
        </p:nvSpPr>
        <p:spPr>
          <a:xfrm>
            <a:off x="2558278" y="4085342"/>
            <a:ext cx="72461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500" dirty="0"/>
              <a:t>Using SQL for Data Exploration and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639141" y="969233"/>
            <a:ext cx="10913718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2400"/>
            </a:pP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B.Tech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Artificial Intelligence &amp; Machine Learning, Sri Vasavi Engineering College (2025), CGPA 7.83/10</a:t>
            </a:r>
          </a:p>
          <a:p>
            <a:pPr marL="285750" lvl="0" indent="-285750">
              <a:buClr>
                <a:schemeClr val="dk1"/>
              </a:buClr>
              <a:buSzPts val="2400"/>
              <a:buFont typeface="Arial"/>
              <a:buChar char="•"/>
            </a:pP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Hands-on experience in Python, SQL, and Power BI through academic and training projects in data analysis, web scraping, and application development</a:t>
            </a:r>
          </a:p>
          <a:p>
            <a:pPr marL="285750" lvl="0" indent="-285750">
              <a:buClr>
                <a:schemeClr val="dk1"/>
              </a:buClr>
              <a:buSzPts val="2400"/>
              <a:buFont typeface="Arial"/>
              <a:buChar char="•"/>
            </a:pP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Fresher — currently pursuing the Data Analytics Training Program at </a:t>
            </a:r>
            <a:r>
              <a:rPr lang="en-IN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Innomatics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Research Labs (since March 2026)</a:t>
            </a:r>
          </a:p>
          <a:p>
            <a:pPr marL="285750" lvl="0" indent="-285750">
              <a:buClr>
                <a:schemeClr val="dk1"/>
              </a:buClr>
              <a:buSzPts val="2400"/>
              <a:buFont typeface="Arial"/>
              <a:buChar char="•"/>
            </a:pP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Certifications: ServiceNow CSA &amp; CAD, Microsoft Fabric Data Engineer Associate, Microsoft Fabric Analytics Engineer Associate, NPTEL Machine Learning</a:t>
            </a:r>
          </a:p>
          <a:p>
            <a:pPr lvl="0">
              <a:buClr>
                <a:schemeClr val="dk1"/>
              </a:buClr>
              <a:buSzPts val="2400"/>
            </a:pP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LinkedIn: 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https://www.linkedin.com/in/sk-ramthu-23r</a:t>
            </a: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GitHub: 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https://github.com/Ramthu-info</a:t>
            </a: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55936" y="482986"/>
            <a:ext cx="609960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170765" y="27782"/>
            <a:ext cx="10515600" cy="1004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Agenda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A04DF-CF8A-E607-A541-1EF5030F9A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93586" y="506116"/>
            <a:ext cx="4974439" cy="609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 of the Project 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Overview 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Structure 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Concepts Used 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Analysis Questions / Use Cases 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SQL Analysis 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Findings 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 Experience / Challenges 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Learnings 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 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Q&amp;A </a:t>
            </a:r>
          </a:p>
        </p:txBody>
      </p:sp>
      <p:pic>
        <p:nvPicPr>
          <p:cNvPr id="4" name="Picture 6" descr="Agenda Stock Illustrations – 122,471 Agenda Stock ...">
            <a:extLst>
              <a:ext uri="{FF2B5EF4-FFF2-40B4-BE49-F238E27FC236}">
                <a16:creationId xmlns:a16="http://schemas.microsoft.com/office/drawing/2014/main" id="{0FE84BE6-39A5-F48E-C8D7-38E38F8BB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6001" y="829559"/>
            <a:ext cx="4996206" cy="4996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B1EE7-05CB-3C34-D11E-38C41C91B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55" y="197962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1FA6D8-67AF-55DA-4C66-3D02934E6A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3933" y="1767006"/>
            <a:ext cx="10370269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dirty="0"/>
              <a:t>This project focuses on analyzing </a:t>
            </a:r>
            <a:r>
              <a:rPr lang="en-US" sz="2000" b="1" dirty="0"/>
              <a:t>restaurant and consumer data using SQL</a:t>
            </a:r>
            <a:r>
              <a:rPr lang="en-US" sz="2000" dirty="0"/>
              <a:t>. The dataset contains information about consumers, their food preferences, restaurants, cuisines, and ratings. The data was organized into related tables using </a:t>
            </a:r>
            <a:r>
              <a:rPr lang="en-US" sz="2000" b="1" dirty="0" err="1"/>
              <a:t>Consumer_ID</a:t>
            </a:r>
            <a:r>
              <a:rPr lang="en-US" sz="2000" b="1" dirty="0"/>
              <a:t> and </a:t>
            </a:r>
            <a:r>
              <a:rPr lang="en-US" sz="2000" b="1" dirty="0" err="1"/>
              <a:t>Restaurant_ID</a:t>
            </a:r>
            <a:r>
              <a:rPr lang="en-US" sz="2000" dirty="0"/>
              <a:t>. The main purpose is to understand </a:t>
            </a:r>
            <a:r>
              <a:rPr lang="en-US" sz="2000" b="1" dirty="0"/>
              <a:t>consumer preferences, restaurant details, and rating patterns</a:t>
            </a:r>
            <a:r>
              <a:rPr lang="en-US" sz="2000" dirty="0"/>
              <a:t> through different SQL queries. This project also helped me gain practical experience in </a:t>
            </a:r>
            <a:r>
              <a:rPr lang="en-US" sz="2000" b="1" dirty="0"/>
              <a:t>SQL data analysis, problem solving, and working with multiple related tables</a:t>
            </a:r>
            <a:r>
              <a:rPr lang="en-US" sz="2000" dirty="0"/>
              <a:t>, while improving my understanding of databases and writing SQL queries for different analysis requirements.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30667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E8CC5-0CFC-2668-35F4-61CB90928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84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OBJECTIVE OF THE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19CC6-2585-E1B4-762E-E72F04392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336" y="1234477"/>
            <a:ext cx="11698664" cy="5100336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000" b="1" dirty="0"/>
              <a:t>Main Objective</a:t>
            </a:r>
            <a:endParaRPr lang="en-US" sz="2000" dirty="0"/>
          </a:p>
          <a:p>
            <a:r>
              <a:rPr lang="en-US" sz="2000" dirty="0"/>
              <a:t>The main objective of this project is to use SQL to explore restaurant and consumer data and find useful information from it.</a:t>
            </a:r>
          </a:p>
          <a:p>
            <a:pPr marL="114300" indent="0">
              <a:buNone/>
            </a:pPr>
            <a:r>
              <a:rPr lang="en-US" sz="2000" b="1" dirty="0"/>
              <a:t>Project Goals</a:t>
            </a:r>
          </a:p>
          <a:p>
            <a:r>
              <a:rPr lang="en-US" sz="2000" dirty="0"/>
              <a:t>Understand the structure of the given data. </a:t>
            </a:r>
          </a:p>
          <a:p>
            <a:r>
              <a:rPr lang="en-US" sz="2000" dirty="0"/>
              <a:t>Create relationships between different tables. </a:t>
            </a:r>
          </a:p>
          <a:p>
            <a:r>
              <a:rPr lang="en-US" sz="2000" dirty="0"/>
              <a:t>Analyze consumer information and food preferences. </a:t>
            </a:r>
          </a:p>
          <a:p>
            <a:r>
              <a:rPr lang="en-US" sz="2000" dirty="0"/>
              <a:t>Study restaurant details and available cuisines. </a:t>
            </a:r>
          </a:p>
          <a:p>
            <a:r>
              <a:rPr lang="en-US" sz="2000" dirty="0"/>
              <a:t>Analyze ratings given by consumers. </a:t>
            </a:r>
          </a:p>
          <a:p>
            <a:r>
              <a:rPr lang="en-US" sz="2000" dirty="0"/>
              <a:t>Use SQL to answer different analysis questions. </a:t>
            </a:r>
          </a:p>
          <a:p>
            <a:r>
              <a:rPr lang="en-US" sz="2000" dirty="0"/>
              <a:t>Practice both basic and advanced SQL concepts. </a:t>
            </a:r>
          </a:p>
          <a:p>
            <a:r>
              <a:rPr lang="en-US" sz="2000" dirty="0"/>
              <a:t>Improve my ability to solve data-related problems using SQL.</a:t>
            </a:r>
          </a:p>
        </p:txBody>
      </p:sp>
    </p:spTree>
    <p:extLst>
      <p:ext uri="{BB962C8B-B14F-4D97-AF65-F5344CB8AC3E}">
        <p14:creationId xmlns:p14="http://schemas.microsoft.com/office/powerpoint/2010/main" val="644466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46CF8-ACDC-62A7-8142-7859099D5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17" y="498367"/>
            <a:ext cx="10515600" cy="365339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DATASET OVERVIEW </a:t>
            </a:r>
            <a:b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E8973-D80C-68CF-3DC6-BE9488C60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567" y="863705"/>
            <a:ext cx="10515600" cy="5810471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dirty="0"/>
              <a:t>The project data is divided into </a:t>
            </a:r>
            <a:r>
              <a:rPr lang="en-US" sz="2000" b="1" dirty="0"/>
              <a:t>five files</a:t>
            </a:r>
            <a:r>
              <a:rPr lang="en-US" sz="2000" dirty="0"/>
              <a:t>, and each file provides a different part of the restaurant and consumer information.</a:t>
            </a:r>
          </a:p>
          <a:p>
            <a:pPr>
              <a:lnSpc>
                <a:spcPct val="120000"/>
              </a:lnSpc>
            </a:pPr>
            <a:r>
              <a:rPr lang="en-US" sz="2000" b="1" dirty="0"/>
              <a:t>Consumers:</a:t>
            </a:r>
            <a:r>
              <a:rPr lang="en-US" sz="2000" dirty="0"/>
              <a:t> This file contains consumer details such as </a:t>
            </a:r>
            <a:r>
              <a:rPr lang="en-US" sz="2000" b="1" dirty="0"/>
              <a:t>Consumer ID, city, location, age, occupation, marital status, children, smoking status, transportation method, and budget</a:t>
            </a:r>
            <a:r>
              <a:rPr lang="en-US" sz="2000" dirty="0"/>
              <a:t>.</a:t>
            </a:r>
          </a:p>
          <a:p>
            <a:pPr>
              <a:lnSpc>
                <a:spcPct val="120000"/>
              </a:lnSpc>
            </a:pPr>
            <a:r>
              <a:rPr lang="en-US" sz="2000" b="1" dirty="0"/>
              <a:t>Consumer Preferences:</a:t>
            </a:r>
            <a:r>
              <a:rPr lang="en-US" sz="2000" dirty="0"/>
              <a:t> This file connects consumers with their </a:t>
            </a:r>
            <a:r>
              <a:rPr lang="en-US" sz="2000" b="1" dirty="0"/>
              <a:t>preferred cuisines</a:t>
            </a:r>
            <a:r>
              <a:rPr lang="en-US" sz="2000" dirty="0"/>
              <a:t>. It contains the </a:t>
            </a:r>
            <a:r>
              <a:rPr lang="en-US" sz="2000" b="1" dirty="0"/>
              <a:t>Consumer ID and Preferred Cuisine</a:t>
            </a:r>
            <a:r>
              <a:rPr lang="en-US" sz="2000" dirty="0"/>
              <a:t>, showing the types of food each consumer likes.</a:t>
            </a:r>
          </a:p>
          <a:p>
            <a:pPr>
              <a:lnSpc>
                <a:spcPct val="120000"/>
              </a:lnSpc>
            </a:pPr>
            <a:r>
              <a:rPr lang="en-US" sz="2000" b="1" dirty="0"/>
              <a:t>Restaurants:</a:t>
            </a:r>
            <a:r>
              <a:rPr lang="en-US" sz="2000" dirty="0"/>
              <a:t> This file contains information about restaurants, including </a:t>
            </a:r>
            <a:r>
              <a:rPr lang="en-US" sz="2000" b="1" dirty="0"/>
              <a:t>Restaurant ID, restaurant name, location, price, alcohol service, smoking allowed, franchise status, area, and parking</a:t>
            </a:r>
            <a:r>
              <a:rPr lang="en-US" sz="2000" dirty="0"/>
              <a:t>.</a:t>
            </a:r>
          </a:p>
          <a:p>
            <a:pPr>
              <a:lnSpc>
                <a:spcPct val="120000"/>
              </a:lnSpc>
            </a:pPr>
            <a:r>
              <a:rPr lang="en-US" sz="2000" b="1" dirty="0"/>
              <a:t>Restaurant Cuisines:</a:t>
            </a:r>
            <a:r>
              <a:rPr lang="en-US" sz="2000" dirty="0"/>
              <a:t> This file connects restaurants with the </a:t>
            </a:r>
            <a:r>
              <a:rPr lang="en-US" sz="2000" b="1" dirty="0"/>
              <a:t>cuisines they serve</a:t>
            </a:r>
            <a:r>
              <a:rPr lang="en-US" sz="2000" dirty="0"/>
              <a:t>. It contains the </a:t>
            </a:r>
            <a:r>
              <a:rPr lang="en-US" sz="2000" b="1" dirty="0"/>
              <a:t>Restaurant ID and Cuisine</a:t>
            </a:r>
            <a:r>
              <a:rPr lang="en-US" sz="2000" dirty="0"/>
              <a:t>, showing the different food types available at each restaurant.</a:t>
            </a:r>
          </a:p>
          <a:p>
            <a:pPr>
              <a:lnSpc>
                <a:spcPct val="120000"/>
              </a:lnSpc>
            </a:pPr>
            <a:r>
              <a:rPr lang="en-US" sz="2000" b="1" dirty="0"/>
              <a:t>Ratings:</a:t>
            </a:r>
            <a:r>
              <a:rPr lang="en-US" sz="2000" dirty="0"/>
              <a:t> This file records the ratings given by consumers to restaurants. It contains </a:t>
            </a:r>
            <a:r>
              <a:rPr lang="en-US" sz="2000" b="1" dirty="0"/>
              <a:t>Consumer ID, Restaurant ID, Overall Rating, Food Rating, and Service Rating</a:t>
            </a:r>
            <a:r>
              <a:rPr lang="en-US" sz="2000" dirty="0"/>
              <a:t>.</a:t>
            </a:r>
          </a:p>
          <a:p>
            <a:pPr>
              <a:lnSpc>
                <a:spcPct val="12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26286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59E01-0B38-6D7E-D0A0-EDCC8965D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2895"/>
            <a:ext cx="10515600" cy="794372"/>
          </a:xfrm>
        </p:spPr>
        <p:txBody>
          <a:bodyPr>
            <a:normAutofit fontScale="90000"/>
          </a:bodyPr>
          <a:lstStyle/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DATABASE STRUCTURE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67F6F-05F4-9DD7-10F6-4665E78AB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8578" y="741543"/>
            <a:ext cx="6467574" cy="4959480"/>
          </a:xfrm>
        </p:spPr>
        <p:txBody>
          <a:bodyPr>
            <a:noAutofit/>
          </a:bodyPr>
          <a:lstStyle/>
          <a:p>
            <a:pPr marL="114300" indent="0">
              <a:lnSpc>
                <a:spcPct val="100000"/>
              </a:lnSpc>
              <a:buNone/>
            </a:pPr>
            <a:r>
              <a:rPr lang="en-US" sz="2000" dirty="0"/>
              <a:t>he project contains multiple tables that are connected through common IDs.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n-US" sz="2000" b="1" dirty="0"/>
              <a:t>Main Connections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Consumers</a:t>
            </a:r>
            <a:br>
              <a:rPr lang="en-US" sz="2000" dirty="0"/>
            </a:br>
            <a:r>
              <a:rPr lang="en-US" sz="2000" dirty="0"/>
              <a:t>→ </a:t>
            </a:r>
            <a:r>
              <a:rPr lang="en-US" sz="2000" dirty="0" err="1"/>
              <a:t>Consumer_ID</a:t>
            </a:r>
            <a:r>
              <a:rPr lang="en-US" sz="2000" dirty="0"/>
              <a:t> → Consumer Preferences→ Ratings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Restaurants</a:t>
            </a:r>
            <a:br>
              <a:rPr lang="en-US" sz="2000" dirty="0"/>
            </a:br>
            <a:r>
              <a:rPr lang="en-US" sz="2000" dirty="0"/>
              <a:t>→ </a:t>
            </a:r>
            <a:r>
              <a:rPr lang="en-US" sz="2000" dirty="0" err="1"/>
              <a:t>Restaurant_ID</a:t>
            </a:r>
            <a:r>
              <a:rPr lang="en-US" sz="2000" dirty="0"/>
              <a:t> → Restaurant Cuisines→ Ratings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n-US" sz="2000" b="1" dirty="0"/>
              <a:t>Important Relationships</a:t>
            </a:r>
          </a:p>
          <a:p>
            <a:pPr>
              <a:lnSpc>
                <a:spcPct val="100000"/>
              </a:lnSpc>
            </a:pPr>
            <a:r>
              <a:rPr lang="en-US" sz="2000" dirty="0" err="1"/>
              <a:t>Consumer_ID</a:t>
            </a:r>
            <a:r>
              <a:rPr lang="en-US" sz="2000" dirty="0"/>
              <a:t> connects consumer details with preferences. </a:t>
            </a:r>
          </a:p>
          <a:p>
            <a:pPr>
              <a:lnSpc>
                <a:spcPct val="100000"/>
              </a:lnSpc>
            </a:pPr>
            <a:r>
              <a:rPr lang="en-US" sz="2000" dirty="0" err="1"/>
              <a:t>Consumer_ID</a:t>
            </a:r>
            <a:r>
              <a:rPr lang="en-US" sz="2000" dirty="0"/>
              <a:t> also connects consumers with their ratings. </a:t>
            </a:r>
          </a:p>
          <a:p>
            <a:pPr>
              <a:lnSpc>
                <a:spcPct val="100000"/>
              </a:lnSpc>
            </a:pPr>
            <a:r>
              <a:rPr lang="en-US" sz="2000" dirty="0" err="1"/>
              <a:t>Restaurant_ID</a:t>
            </a:r>
            <a:r>
              <a:rPr lang="en-US" sz="2000" dirty="0"/>
              <a:t> connects restaurant details with cuisines. </a:t>
            </a:r>
          </a:p>
          <a:p>
            <a:pPr>
              <a:lnSpc>
                <a:spcPct val="100000"/>
              </a:lnSpc>
            </a:pPr>
            <a:r>
              <a:rPr lang="en-US" sz="2000" dirty="0" err="1"/>
              <a:t>Restaurant_ID</a:t>
            </a:r>
            <a:r>
              <a:rPr lang="en-US" sz="2000" dirty="0"/>
              <a:t> also connects restaurants with their ratings.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A70574-4397-24AE-AAAA-9E6724C28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456" y="160299"/>
            <a:ext cx="5489543" cy="6051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134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89F01-39C0-35B9-3137-16CDB1EF6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140" y="1825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SQL ANALYSIS &amp; CONCEPTS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2697D-D078-3C09-0FCC-8EC972128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7627" y="1052626"/>
            <a:ext cx="4959284" cy="5376453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000" b="1" dirty="0"/>
              <a:t>SQL Concepts Used</a:t>
            </a:r>
          </a:p>
          <a:p>
            <a:pPr marL="114300" indent="0">
              <a:buNone/>
            </a:pPr>
            <a:r>
              <a:rPr lang="en-US" sz="2000" b="1" dirty="0"/>
              <a:t>Basic SQL</a:t>
            </a:r>
          </a:p>
          <a:p>
            <a:r>
              <a:rPr lang="en-US" sz="2000" dirty="0"/>
              <a:t>SELECT </a:t>
            </a:r>
          </a:p>
          <a:p>
            <a:r>
              <a:rPr lang="en-US" sz="2000" dirty="0"/>
              <a:t>WHERE </a:t>
            </a:r>
          </a:p>
          <a:p>
            <a:r>
              <a:rPr lang="en-US" sz="2000" dirty="0"/>
              <a:t>ORDER BY </a:t>
            </a:r>
          </a:p>
          <a:p>
            <a:r>
              <a:rPr lang="en-US" sz="2000" dirty="0"/>
              <a:t>GROUP BY </a:t>
            </a:r>
          </a:p>
          <a:p>
            <a:r>
              <a:rPr lang="en-US" sz="2000" dirty="0"/>
              <a:t>HAVING </a:t>
            </a:r>
          </a:p>
          <a:p>
            <a:pPr marL="114300" indent="0">
              <a:buNone/>
            </a:pPr>
            <a:r>
              <a:rPr lang="en-US" sz="2000" b="1" dirty="0"/>
              <a:t>JOINs &amp; Subqueries</a:t>
            </a:r>
          </a:p>
          <a:p>
            <a:r>
              <a:rPr lang="en-US" sz="2000" dirty="0"/>
              <a:t>INNER JOIN ,LEFT JOIN,RIGHT JOIN </a:t>
            </a:r>
          </a:p>
          <a:p>
            <a:r>
              <a:rPr lang="en-US" sz="2000" dirty="0"/>
              <a:t>Subqueries </a:t>
            </a:r>
          </a:p>
          <a:p>
            <a:r>
              <a:rPr lang="en-US" sz="2000" dirty="0"/>
              <a:t>IN </a:t>
            </a:r>
          </a:p>
          <a:p>
            <a:r>
              <a:rPr lang="en-US" sz="2000" dirty="0"/>
              <a:t>NOT IN </a:t>
            </a:r>
          </a:p>
          <a:p>
            <a:r>
              <a:rPr lang="en-US" sz="2000" dirty="0"/>
              <a:t>EXISTS </a:t>
            </a:r>
          </a:p>
          <a:p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C33995-B0BC-3DE9-E2AD-2DDC1792FAC2}"/>
              </a:ext>
            </a:extLst>
          </p:cNvPr>
          <p:cNvSpPr txBox="1"/>
          <p:nvPr/>
        </p:nvSpPr>
        <p:spPr>
          <a:xfrm>
            <a:off x="6746450" y="1052626"/>
            <a:ext cx="6094428" cy="511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Advanced SQL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CTEs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Window Functions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Views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Stored Procedures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Derived Tables 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Window Functions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ROW_NUMBER()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RANK()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LEAD()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AVG() OVER()</a:t>
            </a:r>
          </a:p>
        </p:txBody>
      </p:sp>
    </p:spTree>
    <p:extLst>
      <p:ext uri="{BB962C8B-B14F-4D97-AF65-F5344CB8AC3E}">
        <p14:creationId xmlns:p14="http://schemas.microsoft.com/office/powerpoint/2010/main" val="3809910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9BCB1-E936-ED92-8069-E91057D82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579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KEY ANALYSIS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C4CEE-2EBF-C155-98BA-1EA7DFB6F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58358"/>
            <a:ext cx="10515600" cy="5451868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000" b="1" dirty="0"/>
              <a:t>Key Analysis Questions / Use Cases</a:t>
            </a:r>
          </a:p>
          <a:p>
            <a:pPr marL="114300" indent="0">
              <a:buNone/>
            </a:pPr>
            <a:r>
              <a:rPr lang="en-US" sz="2000" b="1" dirty="0"/>
              <a:t>Consumer Analysis</a:t>
            </a:r>
          </a:p>
          <a:p>
            <a:r>
              <a:rPr lang="en-US" sz="2000" dirty="0"/>
              <a:t>Find consumers from specific cities </a:t>
            </a:r>
          </a:p>
          <a:p>
            <a:r>
              <a:rPr lang="en-US" sz="2000" dirty="0"/>
              <a:t>Identify student consumers who smoke </a:t>
            </a:r>
          </a:p>
          <a:p>
            <a:r>
              <a:rPr lang="en-US" sz="2000" dirty="0"/>
              <a:t>Analyze consumer demographics </a:t>
            </a:r>
          </a:p>
          <a:p>
            <a:r>
              <a:rPr lang="en-US" sz="2000" dirty="0"/>
              <a:t>Find consumers based on cuisine preferences </a:t>
            </a:r>
          </a:p>
          <a:p>
            <a:r>
              <a:rPr lang="en-US" sz="2000" dirty="0"/>
              <a:t>Compare consumers based on their ratings </a:t>
            </a:r>
          </a:p>
          <a:p>
            <a:endParaRPr lang="en-US" sz="2000" dirty="0"/>
          </a:p>
          <a:p>
            <a:pPr marL="114300" indent="0">
              <a:buNone/>
            </a:pPr>
            <a:r>
              <a:rPr lang="en-US" sz="2000" b="1" dirty="0"/>
              <a:t>Restaurant Analysis</a:t>
            </a:r>
          </a:p>
          <a:p>
            <a:r>
              <a:rPr lang="en-US" sz="2000" dirty="0"/>
              <a:t>Find medium-priced restaurants </a:t>
            </a:r>
          </a:p>
          <a:p>
            <a:r>
              <a:rPr lang="en-US" sz="2000" dirty="0"/>
              <a:t>Find restaurants offering wine and beer </a:t>
            </a:r>
          </a:p>
          <a:p>
            <a:r>
              <a:rPr lang="en-US" sz="2000" dirty="0"/>
              <a:t>Identify franchise restaurants </a:t>
            </a:r>
          </a:p>
          <a:p>
            <a:r>
              <a:rPr lang="en-US" sz="2000" dirty="0"/>
              <a:t>Find highly-rated restaurants </a:t>
            </a:r>
          </a:p>
          <a:p>
            <a:r>
              <a:rPr lang="en-US" sz="2000" dirty="0"/>
              <a:t>Identify restaurants serving Mexican cuisine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31861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63A70-9A64-23E4-7998-54FB530BB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" y="5700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KEY ANALYSIS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3E0BF-FF36-92BD-8C6F-4AFEC5B76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5078" y="986640"/>
            <a:ext cx="10515600" cy="5814357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000" b="1" dirty="0"/>
              <a:t>Key Analysis Questions / Use Cases</a:t>
            </a:r>
          </a:p>
          <a:p>
            <a:pPr marL="114300" indent="0">
              <a:buNone/>
            </a:pPr>
            <a:r>
              <a:rPr lang="en-US" sz="2000" b="1" dirty="0"/>
              <a:t>Rating Analysis</a:t>
            </a:r>
          </a:p>
          <a:p>
            <a:r>
              <a:rPr lang="en-US" sz="2000" dirty="0"/>
              <a:t>Find restaurants rated in specific cities </a:t>
            </a:r>
          </a:p>
          <a:p>
            <a:r>
              <a:rPr lang="en-US" sz="2000" dirty="0"/>
              <a:t>Find consumers with food ratings below the average </a:t>
            </a:r>
          </a:p>
          <a:p>
            <a:r>
              <a:rPr lang="en-US" sz="2000" dirty="0"/>
              <a:t>Identify consumers who rated non-Italian restaurants </a:t>
            </a:r>
          </a:p>
          <a:p>
            <a:r>
              <a:rPr lang="en-US" sz="2000" dirty="0"/>
              <a:t>Compare food and service ratings </a:t>
            </a:r>
          </a:p>
          <a:p>
            <a:r>
              <a:rPr lang="en-US" sz="2000" dirty="0"/>
              <a:t>Find restaurants performing above the average 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2000" b="1" dirty="0"/>
              <a:t>Advanced Analysis</a:t>
            </a:r>
          </a:p>
          <a:p>
            <a:r>
              <a:rPr lang="en-US" sz="2000" dirty="0"/>
              <a:t>Rank restaurants based on ratings </a:t>
            </a:r>
          </a:p>
          <a:p>
            <a:r>
              <a:rPr lang="en-US" sz="2000" dirty="0"/>
              <a:t>Analyze rating patterns within restaurants </a:t>
            </a:r>
          </a:p>
          <a:p>
            <a:r>
              <a:rPr lang="en-US" sz="2000" dirty="0"/>
              <a:t>Find top preferred cuisines </a:t>
            </a:r>
          </a:p>
          <a:p>
            <a:r>
              <a:rPr lang="en-US" sz="2000" dirty="0"/>
              <a:t>Compare consumer and restaurant performance </a:t>
            </a:r>
          </a:p>
          <a:p>
            <a:r>
              <a:rPr lang="en-US" sz="2000" dirty="0"/>
              <a:t>Use multiple tables to answer complex questions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29960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9F0B5-8A63-94DF-2893-3AC2C008D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433" y="1825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OVERALL KEY FINDINGS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51BC1-6A4C-4009-A63A-1F0912A8E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71" y="999242"/>
            <a:ext cx="10515600" cy="5495826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000" dirty="0"/>
              <a:t>From the analysis questions, the project helps us understand:</a:t>
            </a:r>
          </a:p>
          <a:p>
            <a:pPr marL="114300" indent="0">
              <a:buNone/>
            </a:pPr>
            <a:r>
              <a:rPr lang="en-US" sz="2000" b="1" dirty="0"/>
              <a:t>Consumer Insights</a:t>
            </a:r>
          </a:p>
          <a:p>
            <a:r>
              <a:rPr lang="en-US" sz="2000" dirty="0"/>
              <a:t>Consumer information can be studied using age, occupation, city, budget, and preferences. </a:t>
            </a:r>
          </a:p>
          <a:p>
            <a:r>
              <a:rPr lang="en-US" sz="2000" dirty="0"/>
              <a:t>Consumer preferences can be connected with their restaurant ratings. </a:t>
            </a:r>
          </a:p>
          <a:p>
            <a:r>
              <a:rPr lang="en-US" sz="2000" dirty="0"/>
              <a:t>Different consumer groups can be identified using SQL conditions. </a:t>
            </a:r>
          </a:p>
          <a:p>
            <a:pPr marL="114300" indent="0">
              <a:buNone/>
            </a:pPr>
            <a:r>
              <a:rPr lang="en-US" sz="2000" b="1" dirty="0"/>
              <a:t>Restaurant Insights</a:t>
            </a:r>
          </a:p>
          <a:p>
            <a:r>
              <a:rPr lang="en-US" sz="2000" dirty="0"/>
              <a:t>Restaurants can be compared based on price, cuisine, location, franchise status, and services. </a:t>
            </a:r>
          </a:p>
          <a:p>
            <a:r>
              <a:rPr lang="en-US" sz="2000" dirty="0"/>
              <a:t>Restaurant ratings can be analyzed along with their other details. </a:t>
            </a:r>
          </a:p>
          <a:p>
            <a:pPr marL="114300" indent="0">
              <a:buNone/>
            </a:pPr>
            <a:r>
              <a:rPr lang="en-US" sz="2000" b="1" dirty="0"/>
              <a:t>Rating Insights</a:t>
            </a:r>
          </a:p>
          <a:p>
            <a:r>
              <a:rPr lang="en-US" sz="2000" dirty="0"/>
              <a:t>Overall, Food, and Service ratings can be compared. </a:t>
            </a:r>
          </a:p>
          <a:p>
            <a:r>
              <a:rPr lang="en-US" sz="2000" dirty="0"/>
              <a:t>Average ratings can be used to compare restaurant performance. </a:t>
            </a:r>
          </a:p>
          <a:p>
            <a:r>
              <a:rPr lang="en-US" sz="2000" dirty="0"/>
              <a:t>Ranking can help identify highly-rated restaurants.</a:t>
            </a:r>
          </a:p>
        </p:txBody>
      </p:sp>
    </p:spTree>
    <p:extLst>
      <p:ext uri="{BB962C8B-B14F-4D97-AF65-F5344CB8AC3E}">
        <p14:creationId xmlns:p14="http://schemas.microsoft.com/office/powerpoint/2010/main" val="506912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3CF49-1D1A-2AF1-82C2-675375ECD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725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MY EXPERIENCE / 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58F8A-20F9-047B-B378-83D6139D6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70" y="1325563"/>
            <a:ext cx="10515600" cy="4977786"/>
          </a:xfrm>
        </p:spPr>
        <p:txBody>
          <a:bodyPr>
            <a:noAutofit/>
          </a:bodyPr>
          <a:lstStyle/>
          <a:p>
            <a:pPr marL="114300" indent="0">
              <a:lnSpc>
                <a:spcPct val="100000"/>
              </a:lnSpc>
              <a:buNone/>
            </a:pPr>
            <a:r>
              <a:rPr lang="en-US" sz="2000" b="1" dirty="0"/>
              <a:t>Understanding Tables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At first, understanding how the tables were connected was difficult.</a:t>
            </a:r>
            <a:br>
              <a:rPr lang="en-US" sz="2000" dirty="0"/>
            </a:br>
            <a:r>
              <a:rPr lang="en-US" sz="2000" b="1" dirty="0"/>
              <a:t>I solved it by checking the common IDs and relationships.</a:t>
            </a:r>
            <a:endParaRPr lang="en-US" sz="2000" dirty="0"/>
          </a:p>
          <a:p>
            <a:pPr marL="114300" indent="0">
              <a:lnSpc>
                <a:spcPct val="100000"/>
              </a:lnSpc>
              <a:buNone/>
            </a:pPr>
            <a:r>
              <a:rPr lang="en-US" sz="2000" b="1" dirty="0"/>
              <a:t>Using JOINs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Joining multiple tables was a little challenging.</a:t>
            </a:r>
            <a:br>
              <a:rPr lang="en-US" sz="2000" dirty="0"/>
            </a:br>
            <a:r>
              <a:rPr lang="en-US" sz="2000" b="1" dirty="0"/>
              <a:t>I practiced different JOINs and checked the results step by step.</a:t>
            </a:r>
            <a:endParaRPr lang="en-US" sz="2000" dirty="0"/>
          </a:p>
          <a:p>
            <a:pPr marL="114300" indent="0">
              <a:lnSpc>
                <a:spcPct val="100000"/>
              </a:lnSpc>
              <a:buNone/>
            </a:pPr>
            <a:r>
              <a:rPr lang="en-US" sz="2000" b="1" dirty="0"/>
              <a:t>Learning Advanced SQL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CTEs and Window Functions were new to me.</a:t>
            </a:r>
            <a:br>
              <a:rPr lang="en-US" sz="2000" dirty="0"/>
            </a:br>
            <a:r>
              <a:rPr lang="en-US" sz="2000" b="1" dirty="0"/>
              <a:t>I practiced simple examples first and then used them in the project.</a:t>
            </a:r>
            <a:endParaRPr lang="en-US" sz="2000" dirty="0"/>
          </a:p>
          <a:p>
            <a:pPr marL="114300" indent="0">
              <a:lnSpc>
                <a:spcPct val="100000"/>
              </a:lnSpc>
              <a:buNone/>
            </a:pPr>
            <a:r>
              <a:rPr lang="en-US" sz="2000" b="1" dirty="0"/>
              <a:t>Writing Complex Queries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Some questions needed multiple tables and conditions.</a:t>
            </a:r>
            <a:br>
              <a:rPr lang="en-US" sz="2000" dirty="0"/>
            </a:br>
            <a:r>
              <a:rPr lang="en-US" sz="2000" b="1" dirty="0"/>
              <a:t>I broke the questions into small steps and built the queries one by one.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05086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55C3C-1F91-0724-B860-CAB57270C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AE639-3F5F-6371-7C0F-57A3E71B4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433" y="1825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0618E-8E28-8BC8-1954-16943963D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3359" y="1343818"/>
            <a:ext cx="10515600" cy="483314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b="1" dirty="0"/>
              <a:t>Conclusion</a:t>
            </a:r>
          </a:p>
          <a:p>
            <a:r>
              <a:rPr lang="en-US" sz="2000" dirty="0"/>
              <a:t>The project helped me analyze restaurant and consumer data using SQL. </a:t>
            </a:r>
          </a:p>
          <a:p>
            <a:r>
              <a:rPr lang="en-US" sz="2000" dirty="0"/>
              <a:t>I worked with multiple related tables and used different types of JOINs. </a:t>
            </a:r>
          </a:p>
          <a:p>
            <a:r>
              <a:rPr lang="en-US" sz="2000" dirty="0"/>
              <a:t>I used </a:t>
            </a:r>
            <a:r>
              <a:rPr lang="en-US" sz="2000" b="1" dirty="0"/>
              <a:t>aggregation, subqueries and filtering</a:t>
            </a:r>
            <a:r>
              <a:rPr lang="en-US" sz="2000" dirty="0"/>
              <a:t> to answer analysis questions. </a:t>
            </a:r>
          </a:p>
          <a:p>
            <a:r>
              <a:rPr lang="en-US" sz="2000" dirty="0"/>
              <a:t>I applied advanced SQL concepts such as </a:t>
            </a:r>
            <a:r>
              <a:rPr lang="en-US" sz="2000" b="1" dirty="0"/>
              <a:t>CTEs and Window Functions</a:t>
            </a:r>
            <a:r>
              <a:rPr lang="en-US" sz="2000" dirty="0"/>
              <a:t>. </a:t>
            </a:r>
          </a:p>
          <a:p>
            <a:r>
              <a:rPr lang="en-US" sz="2000" dirty="0"/>
              <a:t>I also worked with </a:t>
            </a:r>
            <a:r>
              <a:rPr lang="en-US" sz="2000" b="1" dirty="0"/>
              <a:t>Views and Stored Procedures</a:t>
            </a:r>
            <a:r>
              <a:rPr lang="en-US" sz="2000" dirty="0"/>
              <a:t>. </a:t>
            </a:r>
          </a:p>
          <a:p>
            <a:r>
              <a:rPr lang="en-US" sz="2000" dirty="0"/>
              <a:t>The analysis helped identify patterns in </a:t>
            </a:r>
            <a:r>
              <a:rPr lang="en-US" sz="2000" b="1" dirty="0"/>
              <a:t>consumer preferences, restaurant performance and ratings</a:t>
            </a:r>
            <a:r>
              <a:rPr lang="en-US" sz="2000" dirty="0"/>
              <a:t>. </a:t>
            </a:r>
          </a:p>
          <a:p>
            <a:endParaRPr lang="en-US" sz="2000" dirty="0"/>
          </a:p>
          <a:p>
            <a:pPr marL="114300" indent="0">
              <a:buNone/>
            </a:pPr>
            <a:r>
              <a:rPr lang="en-US" sz="2000" b="1" dirty="0"/>
              <a:t>Overall Learning</a:t>
            </a:r>
          </a:p>
          <a:p>
            <a:r>
              <a:rPr lang="en-US" sz="2000" dirty="0"/>
              <a:t>This project helped me understand how SQL can be used to analyze real-world data and generate useful insights.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46234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2063649" y="2498466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1131</Words>
  <Application>Microsoft Office PowerPoint</Application>
  <PresentationFormat>Widescreen</PresentationFormat>
  <Paragraphs>150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Lato Black</vt:lpstr>
      <vt:lpstr>Libre Baskerville</vt:lpstr>
      <vt:lpstr>Calibri</vt:lpstr>
      <vt:lpstr>Arial</vt:lpstr>
      <vt:lpstr>Office Theme</vt:lpstr>
      <vt:lpstr>PowerPoint Presentation</vt:lpstr>
      <vt:lpstr>PowerPoint Presentation</vt:lpstr>
      <vt:lpstr>Agenda</vt:lpstr>
      <vt:lpstr>INTRODUCTION</vt:lpstr>
      <vt:lpstr>OBJECTIVE OF THE PROJECT</vt:lpstr>
      <vt:lpstr>DATASET OVERVIEW  </vt:lpstr>
      <vt:lpstr>DATABASE STRUCTURE </vt:lpstr>
      <vt:lpstr>SQL ANALYSIS &amp; CONCEPTS USED</vt:lpstr>
      <vt:lpstr>KEY ANALYSIS QUESTIONS</vt:lpstr>
      <vt:lpstr>KEY ANALYSIS QUESTIONS</vt:lpstr>
      <vt:lpstr>OVERALL KEY FINDINGS</vt:lpstr>
      <vt:lpstr>MY EXPERIENCE / CHALLENGES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Ramthu 😴</cp:lastModifiedBy>
  <cp:revision>10</cp:revision>
  <dcterms:created xsi:type="dcterms:W3CDTF">2021-02-16T05:19:01Z</dcterms:created>
  <dcterms:modified xsi:type="dcterms:W3CDTF">2026-09-09T08:47:31Z</dcterms:modified>
</cp:coreProperties>
</file>