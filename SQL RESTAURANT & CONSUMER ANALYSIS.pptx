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60" r:id="rId5"/>
    <p:sldId id="261" r:id="rId6"/>
    <p:sldId id="262" r:id="rId7"/>
    <p:sldId id="263" r:id="rId8"/>
    <p:sldId id="264" r:id="rId9"/>
    <p:sldId id="268" r:id="rId10"/>
    <p:sldId id="265" r:id="rId11"/>
    <p:sldId id="266" r:id="rId12"/>
    <p:sldId id="269" r:id="rId13"/>
    <p:sldId id="267" r:id="rId14"/>
    <p:sldId id="259" r:id="rId15"/>
  </p:sldIdLst>
  <p:sldSz cx="12192000" cy="6858000"/>
  <p:notesSz cx="6858000" cy="9144000"/>
  <p:embeddedFontLst>
    <p:embeddedFont>
      <p:font typeface="Lato Black" panose="020F0502020204030203" pitchFamily="34" charset="0"/>
      <p:bold r:id="rId17"/>
      <p:boldItalic r:id="rId18"/>
    </p:embeddedFont>
    <p:embeddedFont>
      <p:font typeface="Libre Baskerville" panose="02000000000000000000" pitchFamily="2" charset="0"/>
      <p:regular r:id="rId19"/>
      <p:bold r:id="rId20"/>
      <p:italic r:id="rId21"/>
      <p:boldItalic r:id="rId2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3" roundtripDataSignature="AMtx7mi4HmEECUlll0m8HTY06QsqsmZGG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542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5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customschemas.google.com/relationships/presentationmetadata" Target="metadata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6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IN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endParaRPr/>
          </a:p>
        </p:txBody>
      </p:sp>
      <p:sp>
        <p:nvSpPr>
          <p:cNvPr id="96" name="Google Shape;9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02" name="Google Shape;102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08" name="Google Shape;108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/>
          </a:p>
        </p:txBody>
      </p:sp>
      <p:sp>
        <p:nvSpPr>
          <p:cNvPr id="114" name="Google Shape;114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  <p:pic>
        <p:nvPicPr>
          <p:cNvPr id="20" name="Google Shape;20;p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814232" y="6184984"/>
            <a:ext cx="3225397" cy="6730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  <p:pic>
        <p:nvPicPr>
          <p:cNvPr id="25" name="Google Shape;25;p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814232" y="6184984"/>
            <a:ext cx="3225397" cy="6730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1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10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9" name="Google Shape;29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  <p:pic>
        <p:nvPicPr>
          <p:cNvPr id="32" name="Google Shape;32;p1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814232" y="6184984"/>
            <a:ext cx="3225397" cy="6730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8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36" name="Google Shape;36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  <p:pic>
        <p:nvPicPr>
          <p:cNvPr id="39" name="Google Shape;39;p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814232" y="6184984"/>
            <a:ext cx="3225397" cy="6730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1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1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43" name="Google Shape;43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  <p:pic>
        <p:nvPicPr>
          <p:cNvPr id="46" name="Google Shape;46;p1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814232" y="6184984"/>
            <a:ext cx="3225397" cy="6730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2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0" name="Google Shape;50;p12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1" name="Google Shape;51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  <p:pic>
        <p:nvPicPr>
          <p:cNvPr id="54" name="Google Shape;54;p1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814232" y="6184984"/>
            <a:ext cx="3225397" cy="6730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3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3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8" name="Google Shape;58;p13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9" name="Google Shape;59;p13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60" name="Google Shape;60;p13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1" name="Google Shape;61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  <p:pic>
        <p:nvPicPr>
          <p:cNvPr id="64" name="Google Shape;64;p1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814232" y="6184984"/>
            <a:ext cx="3225397" cy="6730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4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4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8" name="Google Shape;68;p14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9" name="Google Shape;69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  <p:pic>
        <p:nvPicPr>
          <p:cNvPr id="72" name="Google Shape;72;p1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814232" y="6184984"/>
            <a:ext cx="3225397" cy="6730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5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15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76" name="Google Shape;76;p15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7" name="Google Shape;77;p1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  <p:pic>
        <p:nvPicPr>
          <p:cNvPr id="80" name="Google Shape;80;p1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814232" y="6184984"/>
            <a:ext cx="3225397" cy="6730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6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4" name="Google Shape;84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6" name="Google Shape;86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  <p:pic>
        <p:nvPicPr>
          <p:cNvPr id="87" name="Google Shape;87;p1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814232" y="6184984"/>
            <a:ext cx="3225397" cy="6730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7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17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1" name="Google Shape;91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2" name="Google Shape;92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3" name="Google Shape;93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inkedin.com/in/sk-ramthu-23r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Ramthu-info" TargetMode="Externa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Google Shape;98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81951"/>
            <a:ext cx="12190815" cy="6694098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1"/>
          <p:cNvSpPr txBox="1"/>
          <p:nvPr/>
        </p:nvSpPr>
        <p:spPr>
          <a:xfrm>
            <a:off x="2727428" y="3538214"/>
            <a:ext cx="7246189" cy="8001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>
              <a:buSzPts val="1800"/>
            </a:pPr>
            <a:r>
              <a:rPr lang="en-US" sz="2300" b="1" dirty="0"/>
              <a:t>SQL RESTAURANT &amp; CONSUMER ANALYSIS</a:t>
            </a:r>
          </a:p>
          <a:p>
            <a:pPr lvl="0" algn="ctr">
              <a:buSzPts val="1800"/>
            </a:pPr>
            <a:endParaRPr lang="en-US" sz="23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A9568B7-1E55-2D91-5558-EC10A50A52B0}"/>
              </a:ext>
            </a:extLst>
          </p:cNvPr>
          <p:cNvSpPr txBox="1"/>
          <p:nvPr/>
        </p:nvSpPr>
        <p:spPr>
          <a:xfrm>
            <a:off x="7699401" y="5423603"/>
            <a:ext cx="6169842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500" b="1" dirty="0">
                <a:solidFill>
                  <a:schemeClr val="tx1">
                    <a:lumMod val="95000"/>
                    <a:lumOff val="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 :  Shaik </a:t>
            </a:r>
            <a:r>
              <a:rPr lang="en-US" sz="1500" b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Rahamthulla</a:t>
            </a:r>
            <a:r>
              <a:rPr lang="en-US" sz="1500" b="1" dirty="0">
                <a:solidFill>
                  <a:schemeClr val="tx1">
                    <a:lumMod val="95000"/>
                    <a:lumOff val="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</a:p>
          <a:p>
            <a:r>
              <a:rPr lang="en-US" sz="1500" b="1" dirty="0">
                <a:solidFill>
                  <a:schemeClr val="tx1">
                    <a:lumMod val="95000"/>
                    <a:lumOff val="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Enrollment No : 81021201834</a:t>
            </a:r>
          </a:p>
          <a:p>
            <a:pPr lvl="1"/>
            <a:r>
              <a:rPr lang="en-US" sz="1500" b="1" dirty="0">
                <a:solidFill>
                  <a:schemeClr val="tx1">
                    <a:lumMod val="95000"/>
                    <a:lumOff val="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 :  Data Analytics Training Program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3A528A-5937-CF8A-8CBF-C846401493B8}"/>
              </a:ext>
            </a:extLst>
          </p:cNvPr>
          <p:cNvSpPr txBox="1"/>
          <p:nvPr/>
        </p:nvSpPr>
        <p:spPr>
          <a:xfrm>
            <a:off x="2558278" y="4085342"/>
            <a:ext cx="7246189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1500" dirty="0"/>
              <a:t>Using SQL for Data Exploration and Analysis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"/>
          <p:cNvSpPr txBox="1"/>
          <p:nvPr/>
        </p:nvSpPr>
        <p:spPr>
          <a:xfrm>
            <a:off x="639141" y="969233"/>
            <a:ext cx="10913718" cy="56322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Clr>
                <a:schemeClr val="dk1"/>
              </a:buClr>
              <a:buSzPts val="2400"/>
            </a:pPr>
            <a:endParaRPr lang="en-IN" sz="2400" b="1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85750" lvl="0" indent="-285750">
              <a:buClr>
                <a:schemeClr val="dk1"/>
              </a:buClr>
              <a:buSzPts val="2400"/>
              <a:buFont typeface="Arial"/>
              <a:buChar char="•"/>
            </a:pPr>
            <a:r>
              <a:rPr lang="en-IN" sz="2400" b="1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B.Tech</a:t>
            </a:r>
            <a:r>
              <a:rPr lang="en-IN" sz="24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in Artificial Intelligence &amp; Machine Learning, Sri Vasavi Engineering College (2025), CGPA 7.83/10</a:t>
            </a:r>
          </a:p>
          <a:p>
            <a:pPr marL="285750" lvl="0" indent="-285750">
              <a:buClr>
                <a:schemeClr val="dk1"/>
              </a:buClr>
              <a:buSzPts val="2400"/>
              <a:buFont typeface="Arial"/>
              <a:buChar char="•"/>
            </a:pPr>
            <a:endParaRPr lang="en-IN" sz="2400" b="1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85750" lvl="0" indent="-285750">
              <a:buClr>
                <a:schemeClr val="dk1"/>
              </a:buClr>
              <a:buSzPts val="2400"/>
              <a:buFont typeface="Arial"/>
              <a:buChar char="•"/>
            </a:pPr>
            <a:r>
              <a:rPr lang="en-IN" sz="24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Hands-on experience in Python, SQL, and Power BI through academic and training projects in data analysis, web scraping, and application development</a:t>
            </a:r>
          </a:p>
          <a:p>
            <a:pPr marL="285750" lvl="0" indent="-285750">
              <a:buClr>
                <a:schemeClr val="dk1"/>
              </a:buClr>
              <a:buSzPts val="2400"/>
              <a:buFont typeface="Arial"/>
              <a:buChar char="•"/>
            </a:pPr>
            <a:endParaRPr lang="en-IN" sz="2400" b="1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85750" lvl="0" indent="-285750">
              <a:buClr>
                <a:schemeClr val="dk1"/>
              </a:buClr>
              <a:buSzPts val="2400"/>
              <a:buFont typeface="Arial"/>
              <a:buChar char="•"/>
            </a:pPr>
            <a:r>
              <a:rPr lang="en-IN" sz="24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Fresher — currently pursuing the Data Analytics Training Program at </a:t>
            </a:r>
            <a:r>
              <a:rPr lang="en-IN" sz="2400" b="1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Innomatics</a:t>
            </a:r>
            <a:r>
              <a:rPr lang="en-IN" sz="24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Research Labs (since March 2026)</a:t>
            </a:r>
          </a:p>
          <a:p>
            <a:pPr marL="285750" lvl="0" indent="-285750">
              <a:buClr>
                <a:schemeClr val="dk1"/>
              </a:buClr>
              <a:buSzPts val="2400"/>
              <a:buFont typeface="Arial"/>
              <a:buChar char="•"/>
            </a:pPr>
            <a:endParaRPr lang="en-IN" sz="2400" b="1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85750" lvl="0" indent="-285750">
              <a:buClr>
                <a:schemeClr val="dk1"/>
              </a:buClr>
              <a:buSzPts val="2400"/>
              <a:buFont typeface="Arial"/>
              <a:buChar char="•"/>
            </a:pPr>
            <a:r>
              <a:rPr lang="en-IN" sz="24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Certifications: ServiceNow CSA &amp; CAD, Microsoft Fabric Data Engineer Associate, Microsoft Fabric Analytics Engineer Associate, NPTEL Machine Learning</a:t>
            </a:r>
          </a:p>
          <a:p>
            <a:pPr lvl="0">
              <a:buClr>
                <a:schemeClr val="dk1"/>
              </a:buClr>
              <a:buSzPts val="2400"/>
            </a:pPr>
            <a:endParaRPr lang="en-IN" sz="2400" b="1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85750" lvl="0" indent="-285750">
              <a:buClr>
                <a:schemeClr val="dk1"/>
              </a:buClr>
              <a:buSzPts val="2400"/>
              <a:buFont typeface="Arial"/>
              <a:buChar char="•"/>
            </a:pPr>
            <a:r>
              <a:rPr lang="en-IN" sz="24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LinkedIn: </a:t>
            </a:r>
            <a:r>
              <a:rPr lang="en-IN" sz="24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https://www.linkedin.com/in/sk-ramthu-23r</a:t>
            </a:r>
            <a:endParaRPr lang="en-IN" sz="2400" b="1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85750" lvl="0" indent="-285750">
              <a:buClr>
                <a:schemeClr val="dk1"/>
              </a:buClr>
              <a:buSzPts val="2400"/>
              <a:buFont typeface="Arial"/>
              <a:buChar char="•"/>
            </a:pPr>
            <a:r>
              <a:rPr lang="en-IN" sz="24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GitHub: </a:t>
            </a:r>
            <a:r>
              <a:rPr lang="en-IN" sz="24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https://github.com/Ramthu-info</a:t>
            </a:r>
            <a:endParaRPr lang="en-IN" sz="2400" b="1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3"/>
          <p:cNvSpPr txBox="1"/>
          <p:nvPr/>
        </p:nvSpPr>
        <p:spPr>
          <a:xfrm>
            <a:off x="455936" y="482986"/>
            <a:ext cx="6099600" cy="4862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3200"/>
              <a:buFont typeface="Lato Black"/>
              <a:buNone/>
            </a:pPr>
            <a:r>
              <a:rPr lang="en-IN" sz="3200" b="0" i="0" u="none" strike="noStrike" cap="none" dirty="0">
                <a:solidFill>
                  <a:srgbClr val="FF0000"/>
                </a:solidFill>
                <a:latin typeface="Lato Black"/>
                <a:ea typeface="Lato Black"/>
                <a:cs typeface="Lato Black"/>
                <a:sym typeface="Lato Black"/>
              </a:rPr>
              <a:t>About me</a:t>
            </a:r>
            <a:endParaRPr sz="1800" b="0" i="0" u="none" strike="noStrike" cap="none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"/>
          <p:cNvSpPr txBox="1">
            <a:spLocks noGrp="1"/>
          </p:cNvSpPr>
          <p:nvPr>
            <p:ph type="title"/>
          </p:nvPr>
        </p:nvSpPr>
        <p:spPr>
          <a:xfrm>
            <a:off x="378155" y="1825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4400"/>
              <a:buFont typeface="Calibri"/>
              <a:buNone/>
            </a:pPr>
            <a:r>
              <a:rPr lang="en-IN" b="1" dirty="0">
                <a:solidFill>
                  <a:srgbClr val="FF0000"/>
                </a:solidFill>
              </a:rPr>
              <a:t>Agenda</a:t>
            </a:r>
            <a:endParaRPr b="1" dirty="0">
              <a:solidFill>
                <a:srgbClr val="FF0000"/>
              </a:solidFill>
            </a:endParaRPr>
          </a:p>
        </p:txBody>
      </p:sp>
      <p:sp>
        <p:nvSpPr>
          <p:cNvPr id="111" name="Google Shape;111;p4"/>
          <p:cNvSpPr txBox="1">
            <a:spLocks noGrp="1"/>
          </p:cNvSpPr>
          <p:nvPr>
            <p:ph type="body" idx="1"/>
          </p:nvPr>
        </p:nvSpPr>
        <p:spPr>
          <a:xfrm>
            <a:off x="472422" y="1343818"/>
            <a:ext cx="10515600" cy="47772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r>
              <a:rPr lang="en-US" sz="2400" b="1" dirty="0"/>
              <a:t>Agenda</a:t>
            </a:r>
          </a:p>
          <a:p>
            <a:r>
              <a:rPr lang="en-US" sz="2400" b="1" dirty="0"/>
              <a:t>Objective of the Project</a:t>
            </a:r>
            <a:r>
              <a:rPr lang="en-US" sz="2400" dirty="0"/>
              <a:t> </a:t>
            </a:r>
          </a:p>
          <a:p>
            <a:r>
              <a:rPr lang="en-US" sz="2400" b="1" dirty="0"/>
              <a:t>Key Analysis Questions (Use Cases)</a:t>
            </a:r>
            <a:r>
              <a:rPr lang="en-US" sz="2400" dirty="0"/>
              <a:t> </a:t>
            </a:r>
          </a:p>
          <a:p>
            <a:r>
              <a:rPr lang="en-US" sz="2400" b="1" dirty="0"/>
              <a:t>Conclusion (Key Findings Overall)</a:t>
            </a:r>
            <a:r>
              <a:rPr lang="en-US" sz="2400" dirty="0"/>
              <a:t> </a:t>
            </a:r>
          </a:p>
          <a:p>
            <a:r>
              <a:rPr lang="en-US" sz="2400" b="1" dirty="0"/>
              <a:t>Q&amp;A</a:t>
            </a:r>
            <a:r>
              <a:rPr lang="en-US" sz="2400" dirty="0"/>
              <a:t> </a:t>
            </a:r>
          </a:p>
          <a:p>
            <a:r>
              <a:rPr lang="en-US" sz="2400" b="1" dirty="0"/>
              <a:t>My Experience / Challenges Working</a:t>
            </a:r>
            <a:endParaRPr lang="en-US" sz="2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9E8CC5-0CFC-2668-35F4-61CB90928A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084" y="0"/>
            <a:ext cx="10515600" cy="1325563"/>
          </a:xfrm>
        </p:spPr>
        <p:txBody>
          <a:bodyPr/>
          <a:lstStyle/>
          <a:p>
            <a:r>
              <a:rPr lang="en-US" b="1" dirty="0">
                <a:solidFill>
                  <a:srgbClr val="FF0000"/>
                </a:solidFill>
              </a:rPr>
              <a:t>OBJECTIVE OF THE PROJECT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519CC6-2585-E1B4-762E-E72F04392B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93336" y="895111"/>
            <a:ext cx="11698664" cy="5887475"/>
          </a:xfrm>
        </p:spPr>
        <p:txBody>
          <a:bodyPr>
            <a:noAutofit/>
          </a:bodyPr>
          <a:lstStyle/>
          <a:p>
            <a:pPr marL="114300" indent="0">
              <a:buNone/>
            </a:pPr>
            <a:r>
              <a:rPr lang="en-US" sz="1600" b="1" dirty="0"/>
              <a:t>Main Objective</a:t>
            </a:r>
          </a:p>
          <a:p>
            <a:pPr marL="114300" indent="0">
              <a:buNone/>
            </a:pPr>
            <a:r>
              <a:rPr lang="en-US" sz="1600" dirty="0"/>
              <a:t>Analyze restaurant and consumer data using SQL to find useful patterns and insights.</a:t>
            </a:r>
          </a:p>
          <a:p>
            <a:pPr marL="114300" indent="0">
              <a:lnSpc>
                <a:spcPct val="150000"/>
              </a:lnSpc>
              <a:buNone/>
            </a:pPr>
            <a:r>
              <a:rPr lang="en-US" sz="1600" b="1" dirty="0"/>
              <a:t>What We Have</a:t>
            </a:r>
          </a:p>
          <a:p>
            <a:r>
              <a:rPr lang="en-US" sz="1600" dirty="0"/>
              <a:t>5 database tables</a:t>
            </a:r>
          </a:p>
          <a:p>
            <a:r>
              <a:rPr lang="en-US" sz="1600" dirty="0"/>
              <a:t>70,000+ data records</a:t>
            </a:r>
          </a:p>
          <a:p>
            <a:r>
              <a:rPr lang="en-US" sz="1600" dirty="0"/>
              <a:t>Restaurants, Consumers, and Ratings data</a:t>
            </a:r>
          </a:p>
          <a:p>
            <a:pPr marL="114300" indent="0">
              <a:lnSpc>
                <a:spcPct val="150000"/>
              </a:lnSpc>
              <a:buNone/>
            </a:pPr>
            <a:r>
              <a:rPr lang="en-US" sz="1600" b="1" dirty="0"/>
              <a:t>What I Learned</a:t>
            </a:r>
          </a:p>
          <a:p>
            <a:r>
              <a:rPr lang="en-US" sz="1600" dirty="0"/>
              <a:t>Basic SQL: SELECT, WHERE, JOIN, GROUP BY</a:t>
            </a:r>
          </a:p>
          <a:p>
            <a:r>
              <a:rPr lang="en-US" sz="1600" dirty="0"/>
              <a:t>Advanced SQL: CTEs, Window Functions, Views, Stored Procedures</a:t>
            </a:r>
          </a:p>
          <a:p>
            <a:r>
              <a:rPr lang="en-US" sz="1600" dirty="0"/>
              <a:t>How to extract business insights from data</a:t>
            </a:r>
          </a:p>
          <a:p>
            <a:pPr marL="114300" indent="0">
              <a:lnSpc>
                <a:spcPct val="150000"/>
              </a:lnSpc>
              <a:buNone/>
            </a:pPr>
            <a:r>
              <a:rPr lang="en-US" sz="1600" b="1" dirty="0"/>
              <a:t>Queries Completed</a:t>
            </a:r>
          </a:p>
          <a:p>
            <a:r>
              <a:rPr lang="en-US" sz="1600" dirty="0"/>
              <a:t>Basic Filtering: 5 queries</a:t>
            </a:r>
          </a:p>
          <a:p>
            <a:r>
              <a:rPr lang="en-US" sz="1600" dirty="0"/>
              <a:t>JOINs &amp; Subqueries: 10 queries 		TOTAL: 32 SQL Queries</a:t>
            </a:r>
          </a:p>
          <a:p>
            <a:r>
              <a:rPr lang="en-US" sz="1600" dirty="0"/>
              <a:t>Aggregation: 5 queries</a:t>
            </a:r>
          </a:p>
          <a:p>
            <a:r>
              <a:rPr lang="en-US" sz="1600" dirty="0"/>
              <a:t>Advanced Topics: 12 queries 	</a:t>
            </a:r>
          </a:p>
        </p:txBody>
      </p:sp>
      <p:sp>
        <p:nvSpPr>
          <p:cNvPr id="4" name="Right Brace 3">
            <a:extLst>
              <a:ext uri="{FF2B5EF4-FFF2-40B4-BE49-F238E27FC236}">
                <a16:creationId xmlns:a16="http://schemas.microsoft.com/office/drawing/2014/main" id="{F5FAA56F-283F-F1F5-3C95-5B5A8F67A627}"/>
              </a:ext>
            </a:extLst>
          </p:cNvPr>
          <p:cNvSpPr/>
          <p:nvPr/>
        </p:nvSpPr>
        <p:spPr>
          <a:xfrm>
            <a:off x="4289196" y="5020210"/>
            <a:ext cx="669303" cy="1498861"/>
          </a:xfrm>
          <a:prstGeom prst="rightBrac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b="1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6444664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D9BCB1-E936-ED92-8069-E91057D82C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579" y="0"/>
            <a:ext cx="10515600" cy="1325563"/>
          </a:xfrm>
        </p:spPr>
        <p:txBody>
          <a:bodyPr/>
          <a:lstStyle/>
          <a:p>
            <a:r>
              <a:rPr lang="en-US" b="1" dirty="0">
                <a:solidFill>
                  <a:srgbClr val="FF0000"/>
                </a:solidFill>
              </a:rPr>
              <a:t>KEY ANALYSIS QUESTIONS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8C4CEE-2EBF-C155-98BA-1EA7DFB6F9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958358"/>
            <a:ext cx="10515600" cy="5451868"/>
          </a:xfrm>
        </p:spPr>
        <p:txBody>
          <a:bodyPr>
            <a:noAutofit/>
          </a:bodyPr>
          <a:lstStyle/>
          <a:p>
            <a:pPr marL="114300" indent="0">
              <a:buNone/>
            </a:pPr>
            <a:r>
              <a:rPr lang="en-US" sz="2000" b="1" dirty="0"/>
              <a:t>Key Analysis Questions / Use Cases</a:t>
            </a:r>
          </a:p>
          <a:p>
            <a:r>
              <a:rPr lang="en-US" sz="2000" b="1" dirty="0"/>
              <a:t>Consumer Analysis</a:t>
            </a:r>
          </a:p>
          <a:p>
            <a:r>
              <a:rPr lang="en-US" sz="2000" dirty="0"/>
              <a:t>Find consumers from specific cities </a:t>
            </a:r>
          </a:p>
          <a:p>
            <a:r>
              <a:rPr lang="en-US" sz="2000" dirty="0"/>
              <a:t>Identify student consumers who smoke </a:t>
            </a:r>
          </a:p>
          <a:p>
            <a:r>
              <a:rPr lang="en-US" sz="2000" dirty="0"/>
              <a:t>Analyze consumer demographics </a:t>
            </a:r>
          </a:p>
          <a:p>
            <a:r>
              <a:rPr lang="en-US" sz="2000" dirty="0"/>
              <a:t>Find consumers based on cuisine preferences </a:t>
            </a:r>
          </a:p>
          <a:p>
            <a:r>
              <a:rPr lang="en-US" sz="2000" dirty="0"/>
              <a:t>Compare consumers based on their ratings </a:t>
            </a:r>
          </a:p>
          <a:p>
            <a:endParaRPr lang="en-US" sz="2000" dirty="0"/>
          </a:p>
          <a:p>
            <a:pPr marL="114300" indent="0">
              <a:buNone/>
            </a:pPr>
            <a:r>
              <a:rPr lang="en-US" sz="2000" b="1" dirty="0"/>
              <a:t>Restaurant Analysis</a:t>
            </a:r>
          </a:p>
          <a:p>
            <a:r>
              <a:rPr lang="en-US" sz="2000" dirty="0"/>
              <a:t>Find medium-priced restaurants </a:t>
            </a:r>
          </a:p>
          <a:p>
            <a:r>
              <a:rPr lang="en-US" sz="2000" dirty="0"/>
              <a:t>Find restaurants offering wine and beer </a:t>
            </a:r>
          </a:p>
          <a:p>
            <a:r>
              <a:rPr lang="en-US" sz="2000" dirty="0"/>
              <a:t>Identify franchise restaurants </a:t>
            </a:r>
          </a:p>
          <a:p>
            <a:r>
              <a:rPr lang="en-US" sz="2000" dirty="0"/>
              <a:t>Find highly-rated restaurants </a:t>
            </a:r>
          </a:p>
          <a:p>
            <a:r>
              <a:rPr lang="en-US" sz="2000" dirty="0"/>
              <a:t>Identify restaurants serving Mexican cuisine </a:t>
            </a:r>
          </a:p>
          <a:p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8318613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163A70-9A64-23E4-7998-54FB530BB4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4567" y="57003"/>
            <a:ext cx="10515600" cy="1325563"/>
          </a:xfrm>
        </p:spPr>
        <p:txBody>
          <a:bodyPr/>
          <a:lstStyle/>
          <a:p>
            <a:r>
              <a:rPr lang="en-US" b="1" dirty="0">
                <a:solidFill>
                  <a:srgbClr val="FF0000"/>
                </a:solidFill>
              </a:rPr>
              <a:t>KEY ANALYSIS QUESTIONS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D3E0BF-FF36-92BD-8C6F-4AFEC5B76D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5078" y="986640"/>
            <a:ext cx="10515600" cy="5814357"/>
          </a:xfrm>
        </p:spPr>
        <p:txBody>
          <a:bodyPr>
            <a:noAutofit/>
          </a:bodyPr>
          <a:lstStyle/>
          <a:p>
            <a:pPr marL="114300" indent="0">
              <a:buNone/>
            </a:pPr>
            <a:r>
              <a:rPr lang="en-US" sz="2000" b="1" dirty="0"/>
              <a:t>Key Analysis Questions / Use Cases</a:t>
            </a:r>
          </a:p>
          <a:p>
            <a:pPr marL="114300" indent="0">
              <a:buNone/>
            </a:pPr>
            <a:r>
              <a:rPr lang="en-US" sz="2000" b="1" dirty="0"/>
              <a:t>Rating Analysis</a:t>
            </a:r>
          </a:p>
          <a:p>
            <a:r>
              <a:rPr lang="en-US" sz="2000" dirty="0"/>
              <a:t>Find restaurants rated in specific cities </a:t>
            </a:r>
          </a:p>
          <a:p>
            <a:r>
              <a:rPr lang="en-US" sz="2000" dirty="0"/>
              <a:t>Find consumers with food ratings below the average </a:t>
            </a:r>
          </a:p>
          <a:p>
            <a:r>
              <a:rPr lang="en-US" sz="2000" dirty="0"/>
              <a:t>Identify consumers who rated non-Italian restaurants </a:t>
            </a:r>
          </a:p>
          <a:p>
            <a:r>
              <a:rPr lang="en-US" sz="2000" dirty="0"/>
              <a:t>Compare food and service ratings </a:t>
            </a:r>
          </a:p>
          <a:p>
            <a:r>
              <a:rPr lang="en-US" sz="2000" dirty="0"/>
              <a:t>Find restaurants performing above the average </a:t>
            </a:r>
          </a:p>
          <a:p>
            <a:pPr marL="114300" indent="0">
              <a:lnSpc>
                <a:spcPct val="150000"/>
              </a:lnSpc>
              <a:buNone/>
            </a:pPr>
            <a:r>
              <a:rPr lang="en-US" sz="2000" b="1" dirty="0"/>
              <a:t>Advanced Analysis</a:t>
            </a:r>
          </a:p>
          <a:p>
            <a:r>
              <a:rPr lang="en-US" sz="2000" dirty="0"/>
              <a:t>Rank restaurants based on ratings </a:t>
            </a:r>
          </a:p>
          <a:p>
            <a:r>
              <a:rPr lang="en-US" sz="2000" dirty="0"/>
              <a:t>Analyze rating patterns within restaurants </a:t>
            </a:r>
          </a:p>
          <a:p>
            <a:r>
              <a:rPr lang="en-US" sz="2000" dirty="0"/>
              <a:t>Find top preferred cuisines </a:t>
            </a:r>
          </a:p>
          <a:p>
            <a:r>
              <a:rPr lang="en-US" sz="2000" dirty="0"/>
              <a:t>Compare consumer and restaurant performance </a:t>
            </a:r>
          </a:p>
          <a:p>
            <a:r>
              <a:rPr lang="en-US" sz="2000" dirty="0"/>
              <a:t>Use multiple tables to answer complex questions</a:t>
            </a:r>
          </a:p>
          <a:p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2299609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689F01-39C0-35B9-3137-16CDB1EF62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140" y="18255"/>
            <a:ext cx="10515600" cy="1325563"/>
          </a:xfrm>
        </p:spPr>
        <p:txBody>
          <a:bodyPr/>
          <a:lstStyle/>
          <a:p>
            <a:r>
              <a:rPr lang="en-US" b="1" dirty="0">
                <a:solidFill>
                  <a:srgbClr val="FF0000"/>
                </a:solidFill>
              </a:rPr>
              <a:t>SQL ANALYSIS &amp; CONCEPTS USED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F2697D-D078-3C09-0FCC-8EC9721289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7627" y="1052626"/>
            <a:ext cx="4959284" cy="5376453"/>
          </a:xfrm>
        </p:spPr>
        <p:txBody>
          <a:bodyPr>
            <a:noAutofit/>
          </a:bodyPr>
          <a:lstStyle/>
          <a:p>
            <a:pPr marL="114300" indent="0">
              <a:buNone/>
            </a:pPr>
            <a:r>
              <a:rPr lang="en-US" sz="2000" b="1" dirty="0"/>
              <a:t>SQL Concepts Used</a:t>
            </a:r>
          </a:p>
          <a:p>
            <a:pPr marL="114300" indent="0">
              <a:buNone/>
            </a:pPr>
            <a:r>
              <a:rPr lang="en-US" sz="2000" b="1" dirty="0"/>
              <a:t>Basic SQL</a:t>
            </a:r>
          </a:p>
          <a:p>
            <a:r>
              <a:rPr lang="en-US" sz="2000" dirty="0"/>
              <a:t>SELECT </a:t>
            </a:r>
          </a:p>
          <a:p>
            <a:r>
              <a:rPr lang="en-US" sz="2000" dirty="0"/>
              <a:t>WHERE </a:t>
            </a:r>
          </a:p>
          <a:p>
            <a:r>
              <a:rPr lang="en-US" sz="2000" dirty="0"/>
              <a:t>ORDER BY </a:t>
            </a:r>
          </a:p>
          <a:p>
            <a:r>
              <a:rPr lang="en-US" sz="2000" dirty="0"/>
              <a:t>GROUP BY </a:t>
            </a:r>
          </a:p>
          <a:p>
            <a:r>
              <a:rPr lang="en-US" sz="2000" dirty="0"/>
              <a:t>HAVING </a:t>
            </a:r>
          </a:p>
          <a:p>
            <a:pPr marL="114300" indent="0">
              <a:buNone/>
            </a:pPr>
            <a:r>
              <a:rPr lang="en-US" sz="2000" b="1" dirty="0"/>
              <a:t>JOINs &amp; Subqueries</a:t>
            </a:r>
          </a:p>
          <a:p>
            <a:r>
              <a:rPr lang="en-US" sz="2000" dirty="0"/>
              <a:t>INNER JOIN ,LEFT JOIN,RIGHT JOIN </a:t>
            </a:r>
          </a:p>
          <a:p>
            <a:r>
              <a:rPr lang="en-US" sz="2000" dirty="0"/>
              <a:t>Subqueries </a:t>
            </a:r>
          </a:p>
          <a:p>
            <a:r>
              <a:rPr lang="en-US" sz="2000" dirty="0"/>
              <a:t>IN </a:t>
            </a:r>
          </a:p>
          <a:p>
            <a:r>
              <a:rPr lang="en-US" sz="2000" dirty="0"/>
              <a:t>NOT IN </a:t>
            </a:r>
          </a:p>
          <a:p>
            <a:r>
              <a:rPr lang="en-US" sz="2000" dirty="0"/>
              <a:t>EXISTS </a:t>
            </a:r>
          </a:p>
          <a:p>
            <a:endParaRPr lang="en-US" sz="2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8C33995-B0BC-3DE9-E2AD-2DDC1792FAC2}"/>
              </a:ext>
            </a:extLst>
          </p:cNvPr>
          <p:cNvSpPr txBox="1"/>
          <p:nvPr/>
        </p:nvSpPr>
        <p:spPr>
          <a:xfrm>
            <a:off x="6746450" y="1052626"/>
            <a:ext cx="6094428" cy="51136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b="1" dirty="0"/>
              <a:t>Advanced SQL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CTEs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Window Functions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Views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Stored Procedures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Derived Tables </a:t>
            </a:r>
          </a:p>
          <a:p>
            <a:pPr>
              <a:lnSpc>
                <a:spcPct val="150000"/>
              </a:lnSpc>
            </a:pPr>
            <a:r>
              <a:rPr lang="en-US" sz="2000" b="1" dirty="0"/>
              <a:t>Window Functions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ROW_NUMBER()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RANK()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LEAD()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AVG() OVER()</a:t>
            </a:r>
          </a:p>
        </p:txBody>
      </p:sp>
    </p:spTree>
    <p:extLst>
      <p:ext uri="{BB962C8B-B14F-4D97-AF65-F5344CB8AC3E}">
        <p14:creationId xmlns:p14="http://schemas.microsoft.com/office/powerpoint/2010/main" val="38099106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39F0B5-8A63-94DF-2893-3AC2C008DB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433" y="18255"/>
            <a:ext cx="10515600" cy="1325563"/>
          </a:xfrm>
        </p:spPr>
        <p:txBody>
          <a:bodyPr/>
          <a:lstStyle/>
          <a:p>
            <a:r>
              <a:rPr lang="en-US" b="1" dirty="0">
                <a:solidFill>
                  <a:srgbClr val="FF0000"/>
                </a:solidFill>
              </a:rPr>
              <a:t>OVERALL KEY FINDINGS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D51BC1-6A4C-4009-A63A-1F0912A8EA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7371" y="999242"/>
            <a:ext cx="10515600" cy="5495826"/>
          </a:xfrm>
        </p:spPr>
        <p:txBody>
          <a:bodyPr>
            <a:noAutofit/>
          </a:bodyPr>
          <a:lstStyle/>
          <a:p>
            <a:pPr marL="114300" indent="0">
              <a:buNone/>
            </a:pPr>
            <a:r>
              <a:rPr lang="en-US" sz="2000" b="1" dirty="0"/>
              <a:t>Key Findings Overall</a:t>
            </a:r>
          </a:p>
          <a:p>
            <a:pPr marL="114300" indent="0">
              <a:buNone/>
            </a:pPr>
            <a:r>
              <a:rPr lang="en-US" sz="2000" b="1" dirty="0"/>
              <a:t>Consumer Insights</a:t>
            </a:r>
          </a:p>
          <a:p>
            <a:r>
              <a:rPr lang="en-US" sz="2000" dirty="0"/>
              <a:t>Students showed a preference for </a:t>
            </a:r>
            <a:r>
              <a:rPr lang="en-US" sz="2000" b="1" dirty="0"/>
              <a:t>low-budget and pizzeria options</a:t>
            </a:r>
            <a:r>
              <a:rPr lang="en-US" sz="2000" dirty="0"/>
              <a:t> </a:t>
            </a:r>
          </a:p>
          <a:p>
            <a:r>
              <a:rPr lang="en-US" sz="2000" dirty="0"/>
              <a:t>Medium-budget consumers were active in restaurant ratings </a:t>
            </a:r>
          </a:p>
          <a:p>
            <a:r>
              <a:rPr lang="en-US" sz="2000" dirty="0"/>
              <a:t>Consumer demographics helped identify different preference patterns </a:t>
            </a:r>
          </a:p>
          <a:p>
            <a:pPr marL="114300" indent="0">
              <a:lnSpc>
                <a:spcPct val="100000"/>
              </a:lnSpc>
              <a:buNone/>
            </a:pPr>
            <a:r>
              <a:rPr lang="en-US" sz="2000" b="1" dirty="0"/>
              <a:t>Restaurant Insights</a:t>
            </a:r>
          </a:p>
          <a:p>
            <a:r>
              <a:rPr lang="en-US" sz="2000" dirty="0"/>
              <a:t>Mexican cuisine showed strong ratings in the analysis </a:t>
            </a:r>
          </a:p>
          <a:p>
            <a:r>
              <a:rPr lang="en-US" sz="2000" dirty="0"/>
              <a:t>Pizzeria restaurants attracted the student segment </a:t>
            </a:r>
          </a:p>
          <a:p>
            <a:r>
              <a:rPr lang="en-US" sz="2000" dirty="0"/>
              <a:t>Franchise restaurants showed more consistent quality </a:t>
            </a:r>
          </a:p>
          <a:p>
            <a:pPr marL="114300" indent="0">
              <a:lnSpc>
                <a:spcPct val="100000"/>
              </a:lnSpc>
              <a:buNone/>
            </a:pPr>
            <a:r>
              <a:rPr lang="en-US" sz="2000" b="1" dirty="0"/>
              <a:t>Rating Insights</a:t>
            </a:r>
          </a:p>
          <a:p>
            <a:r>
              <a:rPr lang="en-US" sz="2000" dirty="0"/>
              <a:t>Highly satisfactory ratings were common </a:t>
            </a:r>
          </a:p>
          <a:p>
            <a:r>
              <a:rPr lang="en-US" sz="2000" dirty="0"/>
              <a:t>Food and service ratings showed a strong relationship </a:t>
            </a:r>
          </a:p>
          <a:p>
            <a:r>
              <a:rPr lang="en-US" sz="2000" dirty="0"/>
              <a:t>SQL ranking helped identify different restaurant and consumer patterns</a:t>
            </a:r>
          </a:p>
          <a:p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5069129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255C3C-1F91-0724-B860-CAB57270C8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AAE639-3F5F-6371-7C0F-57A3E71B4D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433" y="18255"/>
            <a:ext cx="10515600" cy="1325563"/>
          </a:xfrm>
        </p:spPr>
        <p:txBody>
          <a:bodyPr/>
          <a:lstStyle/>
          <a:p>
            <a:r>
              <a:rPr lang="en-US" b="1" dirty="0">
                <a:solidFill>
                  <a:srgbClr val="FF0000"/>
                </a:solidFill>
              </a:rPr>
              <a:t>CONCLUSION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00618E-8E28-8BC8-1954-16943963DB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53359" y="1343818"/>
            <a:ext cx="10515600" cy="4833145"/>
          </a:xfrm>
        </p:spPr>
        <p:txBody>
          <a:bodyPr>
            <a:normAutofit/>
          </a:bodyPr>
          <a:lstStyle/>
          <a:p>
            <a:pPr marL="114300" indent="0">
              <a:buNone/>
            </a:pPr>
            <a:r>
              <a:rPr lang="en-US" sz="2000" b="1" dirty="0"/>
              <a:t>Conclusion</a:t>
            </a:r>
          </a:p>
          <a:p>
            <a:r>
              <a:rPr lang="en-US" sz="2000" dirty="0"/>
              <a:t>The project helped me analyze restaurant and consumer data using SQL. </a:t>
            </a:r>
          </a:p>
          <a:p>
            <a:r>
              <a:rPr lang="en-US" sz="2000" dirty="0"/>
              <a:t>I worked with multiple related tables and used different types of JOINs. </a:t>
            </a:r>
          </a:p>
          <a:p>
            <a:r>
              <a:rPr lang="en-US" sz="2000" dirty="0"/>
              <a:t>I used </a:t>
            </a:r>
            <a:r>
              <a:rPr lang="en-US" sz="2000" b="1" dirty="0"/>
              <a:t>aggregation, subqueries and filtering</a:t>
            </a:r>
            <a:r>
              <a:rPr lang="en-US" sz="2000" dirty="0"/>
              <a:t> to answer analysis questions. </a:t>
            </a:r>
          </a:p>
          <a:p>
            <a:r>
              <a:rPr lang="en-US" sz="2000" dirty="0"/>
              <a:t>I applied advanced SQL concepts such as </a:t>
            </a:r>
            <a:r>
              <a:rPr lang="en-US" sz="2000" b="1" dirty="0"/>
              <a:t>CTEs and Window Functions</a:t>
            </a:r>
            <a:r>
              <a:rPr lang="en-US" sz="2000" dirty="0"/>
              <a:t>. </a:t>
            </a:r>
          </a:p>
          <a:p>
            <a:r>
              <a:rPr lang="en-US" sz="2000" dirty="0"/>
              <a:t>I also worked with </a:t>
            </a:r>
            <a:r>
              <a:rPr lang="en-US" sz="2000" b="1" dirty="0"/>
              <a:t>Views and Stored Procedures</a:t>
            </a:r>
            <a:r>
              <a:rPr lang="en-US" sz="2000" dirty="0"/>
              <a:t>. </a:t>
            </a:r>
          </a:p>
          <a:p>
            <a:r>
              <a:rPr lang="en-US" sz="2000" dirty="0"/>
              <a:t>The analysis helped identify patterns in </a:t>
            </a:r>
            <a:r>
              <a:rPr lang="en-US" sz="2000" b="1" dirty="0"/>
              <a:t>consumer preferences, restaurant performance and ratings</a:t>
            </a:r>
            <a:r>
              <a:rPr lang="en-US" sz="2000" dirty="0"/>
              <a:t>. </a:t>
            </a:r>
          </a:p>
          <a:p>
            <a:endParaRPr lang="en-US" sz="2000" dirty="0"/>
          </a:p>
          <a:p>
            <a:pPr marL="114300" indent="0">
              <a:buNone/>
            </a:pPr>
            <a:r>
              <a:rPr lang="en-US" sz="2000" b="1" dirty="0"/>
              <a:t>Overall Learning</a:t>
            </a:r>
          </a:p>
          <a:p>
            <a:r>
              <a:rPr lang="en-US" sz="2000" dirty="0"/>
              <a:t>This project helped me understand how SQL can be used to analyze real-world data and generate useful insights.</a:t>
            </a:r>
          </a:p>
          <a:p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7462341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13CF49-1D1A-2AF1-82C2-675375ECD6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9725" y="0"/>
            <a:ext cx="10515600" cy="1325563"/>
          </a:xfrm>
        </p:spPr>
        <p:txBody>
          <a:bodyPr/>
          <a:lstStyle/>
          <a:p>
            <a:r>
              <a:rPr lang="en-US" b="1" dirty="0">
                <a:solidFill>
                  <a:srgbClr val="FF0000"/>
                </a:solidFill>
              </a:rPr>
              <a:t>MY EXPERIENCE / CHALLENGES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DA58F8A-20F9-047B-B378-83D6139D69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6797" y="1517282"/>
            <a:ext cx="10515600" cy="4351338"/>
          </a:xfrm>
        </p:spPr>
        <p:txBody>
          <a:bodyPr>
            <a:noAutofit/>
          </a:bodyPr>
          <a:lstStyle/>
          <a:p>
            <a:pPr marL="114300" indent="0">
              <a:lnSpc>
                <a:spcPct val="100000"/>
              </a:lnSpc>
              <a:buNone/>
            </a:pPr>
            <a:r>
              <a:rPr lang="en-US" sz="2000" b="1" dirty="0"/>
              <a:t>Challenge 1 — Complex JOINs</a:t>
            </a:r>
          </a:p>
          <a:p>
            <a:pPr>
              <a:lnSpc>
                <a:spcPct val="100000"/>
              </a:lnSpc>
            </a:pPr>
            <a:r>
              <a:rPr lang="en-US" sz="2000" b="1" dirty="0"/>
              <a:t>Problem:</a:t>
            </a:r>
            <a:br>
              <a:rPr lang="en-US" sz="2000" dirty="0"/>
            </a:br>
            <a:r>
              <a:rPr lang="en-US" sz="2000" dirty="0"/>
              <a:t>Connecting multiple tables was difficult initially.</a:t>
            </a:r>
          </a:p>
          <a:p>
            <a:pPr>
              <a:lnSpc>
                <a:spcPct val="100000"/>
              </a:lnSpc>
            </a:pPr>
            <a:r>
              <a:rPr lang="en-US" sz="2000" b="1" dirty="0"/>
              <a:t>Solution:</a:t>
            </a:r>
            <a:br>
              <a:rPr lang="en-US" sz="2000" dirty="0"/>
            </a:br>
            <a:r>
              <a:rPr lang="en-US" sz="2000" dirty="0"/>
              <a:t>I understood the relationships between tables and tested the JOINs step by step.</a:t>
            </a:r>
          </a:p>
          <a:p>
            <a:pPr marL="114300" indent="0">
              <a:lnSpc>
                <a:spcPct val="100000"/>
              </a:lnSpc>
              <a:buNone/>
            </a:pPr>
            <a:endParaRPr lang="en-US" sz="2000" dirty="0"/>
          </a:p>
          <a:p>
            <a:pPr marL="114300" indent="0">
              <a:lnSpc>
                <a:spcPct val="100000"/>
              </a:lnSpc>
              <a:buNone/>
            </a:pPr>
            <a:r>
              <a:rPr lang="en-US" sz="2000" b="1" dirty="0"/>
              <a:t>Challenge 2 — Window Functions</a:t>
            </a:r>
          </a:p>
          <a:p>
            <a:pPr>
              <a:lnSpc>
                <a:spcPct val="100000"/>
              </a:lnSpc>
            </a:pPr>
            <a:r>
              <a:rPr lang="en-US" sz="2000" b="1" dirty="0"/>
              <a:t>Problem:</a:t>
            </a:r>
            <a:br>
              <a:rPr lang="en-US" sz="2000" dirty="0"/>
            </a:br>
            <a:r>
              <a:rPr lang="en-US" sz="2000" dirty="0"/>
              <a:t>Understanding PARTITION BY and ORDER BY was challenging.</a:t>
            </a:r>
          </a:p>
          <a:p>
            <a:pPr>
              <a:lnSpc>
                <a:spcPct val="100000"/>
              </a:lnSpc>
            </a:pPr>
            <a:r>
              <a:rPr lang="en-US" sz="2000" b="1" dirty="0"/>
              <a:t>Solution:</a:t>
            </a:r>
            <a:br>
              <a:rPr lang="en-US" sz="2000" dirty="0"/>
            </a:br>
            <a:r>
              <a:rPr lang="en-US" sz="2000" dirty="0"/>
              <a:t>I started with simple ranking queries and gradually moved to complex queries.</a:t>
            </a:r>
          </a:p>
          <a:p>
            <a:pPr>
              <a:lnSpc>
                <a:spcPct val="100000"/>
              </a:lnSpc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5050867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A65896-26CD-EFDD-FF01-A07E630712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3738" y="18255"/>
            <a:ext cx="10515600" cy="1325563"/>
          </a:xfrm>
        </p:spPr>
        <p:txBody>
          <a:bodyPr/>
          <a:lstStyle/>
          <a:p>
            <a:r>
              <a:rPr lang="en-US" b="1" dirty="0">
                <a:solidFill>
                  <a:srgbClr val="FF0000"/>
                </a:solidFill>
              </a:rPr>
              <a:t>MY EXPERIENCE / CHALLENGES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B0F043-0CC6-D0C2-14CC-EF3991BC9B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1957" y="1505114"/>
            <a:ext cx="10515600" cy="4351338"/>
          </a:xfrm>
        </p:spPr>
        <p:txBody>
          <a:bodyPr>
            <a:normAutofit/>
          </a:bodyPr>
          <a:lstStyle/>
          <a:p>
            <a:pPr marL="114300" indent="0">
              <a:lnSpc>
                <a:spcPct val="100000"/>
              </a:lnSpc>
              <a:buNone/>
            </a:pPr>
            <a:r>
              <a:rPr lang="en-US" sz="2000" b="1" dirty="0"/>
              <a:t>Challenge 3 — Subqueries &amp; CTEs</a:t>
            </a:r>
          </a:p>
          <a:p>
            <a:pPr>
              <a:lnSpc>
                <a:spcPct val="100000"/>
              </a:lnSpc>
            </a:pPr>
            <a:r>
              <a:rPr lang="en-US" sz="2000" b="1" dirty="0"/>
              <a:t>Problem:</a:t>
            </a:r>
            <a:br>
              <a:rPr lang="en-US" sz="2000" dirty="0"/>
            </a:br>
            <a:r>
              <a:rPr lang="en-US" sz="2000" dirty="0"/>
              <a:t>Understanding when to use subqueries and CTEs.</a:t>
            </a:r>
          </a:p>
          <a:p>
            <a:pPr>
              <a:lnSpc>
                <a:spcPct val="100000"/>
              </a:lnSpc>
            </a:pPr>
            <a:r>
              <a:rPr lang="en-US" sz="2000" b="1" dirty="0"/>
              <a:t>Solution:</a:t>
            </a:r>
            <a:br>
              <a:rPr lang="en-US" sz="2000" dirty="0"/>
            </a:br>
            <a:r>
              <a:rPr lang="en-US" sz="2000" dirty="0"/>
              <a:t>I practiced different queries and compared the results.</a:t>
            </a:r>
          </a:p>
          <a:p>
            <a:pPr>
              <a:lnSpc>
                <a:spcPct val="100000"/>
              </a:lnSpc>
            </a:pPr>
            <a:endParaRPr lang="en-US" sz="2000" dirty="0"/>
          </a:p>
          <a:p>
            <a:pPr marL="114300" indent="0">
              <a:lnSpc>
                <a:spcPct val="100000"/>
              </a:lnSpc>
              <a:buNone/>
            </a:pPr>
            <a:r>
              <a:rPr lang="en-US" sz="2000" b="1" dirty="0"/>
              <a:t>Challenge 4 — Stored Procedures</a:t>
            </a:r>
          </a:p>
          <a:p>
            <a:pPr>
              <a:lnSpc>
                <a:spcPct val="100000"/>
              </a:lnSpc>
            </a:pPr>
            <a:r>
              <a:rPr lang="en-US" sz="2000" b="1" dirty="0"/>
              <a:t>Problem:</a:t>
            </a:r>
            <a:br>
              <a:rPr lang="en-US" sz="2000" dirty="0"/>
            </a:br>
            <a:r>
              <a:rPr lang="en-US" sz="2000" dirty="0"/>
              <a:t>Handling parameters and complex query logic.</a:t>
            </a:r>
          </a:p>
          <a:p>
            <a:pPr>
              <a:lnSpc>
                <a:spcPct val="100000"/>
              </a:lnSpc>
            </a:pPr>
            <a:r>
              <a:rPr lang="en-US" sz="2000" b="1" dirty="0"/>
              <a:t>Solution:</a:t>
            </a:r>
            <a:br>
              <a:rPr lang="en-US" sz="2000" dirty="0"/>
            </a:br>
            <a:r>
              <a:rPr lang="en-US" sz="2000" dirty="0"/>
              <a:t>I created the procedure step by step and tested it using CALL.</a:t>
            </a:r>
          </a:p>
        </p:txBody>
      </p:sp>
    </p:spTree>
    <p:extLst>
      <p:ext uri="{BB962C8B-B14F-4D97-AF65-F5344CB8AC3E}">
        <p14:creationId xmlns:p14="http://schemas.microsoft.com/office/powerpoint/2010/main" val="28864764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42E0A5-840F-F021-C75A-471E8B7B95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7751" y="18255"/>
            <a:ext cx="10515600" cy="1325563"/>
          </a:xfrm>
        </p:spPr>
        <p:txBody>
          <a:bodyPr/>
          <a:lstStyle/>
          <a:p>
            <a:r>
              <a:rPr lang="en-US" b="1" dirty="0">
                <a:solidFill>
                  <a:srgbClr val="FF0000"/>
                </a:solidFill>
              </a:rPr>
              <a:t>WHAT I LEARNED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6D9151-201A-DF12-2F38-6312569206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24207" y="1343818"/>
            <a:ext cx="10675070" cy="5451867"/>
          </a:xfrm>
        </p:spPr>
        <p:txBody>
          <a:bodyPr>
            <a:noAutofit/>
          </a:bodyPr>
          <a:lstStyle/>
          <a:p>
            <a:pPr marL="114300" indent="0">
              <a:lnSpc>
                <a:spcPct val="100000"/>
              </a:lnSpc>
              <a:buNone/>
            </a:pPr>
            <a:r>
              <a:rPr lang="en-US" sz="1700" b="1" dirty="0"/>
              <a:t>Key Learnings</a:t>
            </a:r>
          </a:p>
          <a:p>
            <a:pPr>
              <a:lnSpc>
                <a:spcPct val="100000"/>
              </a:lnSpc>
            </a:pPr>
            <a:r>
              <a:rPr lang="en-US" sz="1700" dirty="0"/>
              <a:t>Test queries step-by-step, don't write everything at once</a:t>
            </a:r>
          </a:p>
          <a:p>
            <a:pPr>
              <a:lnSpc>
                <a:spcPct val="100000"/>
              </a:lnSpc>
            </a:pPr>
            <a:r>
              <a:rPr lang="en-US" sz="1700" dirty="0"/>
              <a:t>CTEs make complex queries readable</a:t>
            </a:r>
          </a:p>
          <a:p>
            <a:pPr>
              <a:lnSpc>
                <a:spcPct val="100000"/>
              </a:lnSpc>
            </a:pPr>
            <a:r>
              <a:rPr lang="en-US" sz="1700" dirty="0"/>
              <a:t>Indexes improve query speed significantly</a:t>
            </a:r>
          </a:p>
          <a:p>
            <a:pPr>
              <a:lnSpc>
                <a:spcPct val="100000"/>
              </a:lnSpc>
            </a:pPr>
            <a:r>
              <a:rPr lang="en-US" sz="1700" dirty="0"/>
              <a:t>Window functions are powerful tools</a:t>
            </a:r>
          </a:p>
          <a:p>
            <a:pPr>
              <a:lnSpc>
                <a:spcPct val="100000"/>
              </a:lnSpc>
            </a:pPr>
            <a:r>
              <a:rPr lang="en-US" sz="1700" dirty="0"/>
              <a:t>Always verify results with sample data</a:t>
            </a:r>
          </a:p>
          <a:p>
            <a:pPr>
              <a:lnSpc>
                <a:spcPct val="100000"/>
              </a:lnSpc>
            </a:pPr>
            <a:endParaRPr lang="en-US" sz="1700" dirty="0"/>
          </a:p>
          <a:p>
            <a:pPr marL="114300" indent="0">
              <a:lnSpc>
                <a:spcPct val="100000"/>
              </a:lnSpc>
              <a:buNone/>
            </a:pPr>
            <a:r>
              <a:rPr lang="en-US" sz="1700" b="1" dirty="0"/>
              <a:t>Skills Gained</a:t>
            </a:r>
          </a:p>
          <a:p>
            <a:pPr>
              <a:lnSpc>
                <a:spcPct val="100000"/>
              </a:lnSpc>
            </a:pPr>
            <a:r>
              <a:rPr lang="en-US" sz="1700" dirty="0"/>
              <a:t>Advanced SQL programming</a:t>
            </a:r>
          </a:p>
          <a:p>
            <a:pPr>
              <a:lnSpc>
                <a:spcPct val="100000"/>
              </a:lnSpc>
            </a:pPr>
            <a:r>
              <a:rPr lang="en-US" sz="1700" dirty="0"/>
              <a:t>Database optimization</a:t>
            </a:r>
          </a:p>
          <a:p>
            <a:pPr>
              <a:lnSpc>
                <a:spcPct val="100000"/>
              </a:lnSpc>
            </a:pPr>
            <a:r>
              <a:rPr lang="en-US" sz="1700" dirty="0"/>
              <a:t>Problem-solving with data</a:t>
            </a:r>
          </a:p>
          <a:p>
            <a:pPr>
              <a:lnSpc>
                <a:spcPct val="100000"/>
              </a:lnSpc>
            </a:pPr>
            <a:r>
              <a:rPr lang="en-US" sz="1700" dirty="0"/>
              <a:t>Professional coding practices</a:t>
            </a:r>
          </a:p>
        </p:txBody>
      </p:sp>
    </p:spTree>
    <p:extLst>
      <p:ext uri="{BB962C8B-B14F-4D97-AF65-F5344CB8AC3E}">
        <p14:creationId xmlns:p14="http://schemas.microsoft.com/office/powerpoint/2010/main" val="3816841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BA4C3D-3349-B35A-9374-8A54B4C77E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7689" y="0"/>
            <a:ext cx="10515600" cy="1325563"/>
          </a:xfrm>
        </p:spPr>
        <p:txBody>
          <a:bodyPr/>
          <a:lstStyle/>
          <a:p>
            <a:r>
              <a:rPr lang="en-US" b="1" dirty="0">
                <a:solidFill>
                  <a:srgbClr val="FF0000"/>
                </a:solidFill>
              </a:rPr>
              <a:t>Q&amp;A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E14490-2751-0D55-47C8-287CDBDD1C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59090" y="1027088"/>
            <a:ext cx="11105561" cy="5713078"/>
          </a:xfrm>
        </p:spPr>
        <p:txBody>
          <a:bodyPr>
            <a:noAutofit/>
          </a:bodyPr>
          <a:lstStyle/>
          <a:p>
            <a:pPr marL="114300" indent="0">
              <a:buNone/>
            </a:pPr>
            <a:r>
              <a:rPr lang="en-US" sz="2000" b="1" dirty="0"/>
              <a:t>Questions &amp; Answers</a:t>
            </a:r>
          </a:p>
          <a:p>
            <a:pPr marL="114300" indent="0">
              <a:buNone/>
            </a:pPr>
            <a:r>
              <a:rPr lang="en-US" sz="2000" b="1" dirty="0"/>
              <a:t>❓ Do you have any questions about:</a:t>
            </a:r>
          </a:p>
          <a:p>
            <a:pPr marL="114300" indent="0">
              <a:lnSpc>
                <a:spcPct val="150000"/>
              </a:lnSpc>
              <a:buNone/>
            </a:pPr>
            <a:r>
              <a:rPr lang="en-US" sz="2000" dirty="0"/>
              <a:t>   • Query logic or SQL concepts?</a:t>
            </a:r>
          </a:p>
          <a:p>
            <a:pPr marL="114300" indent="0">
              <a:buNone/>
            </a:pPr>
            <a:r>
              <a:rPr lang="en-US" sz="2000" dirty="0"/>
              <a:t>   • Database design decisions?</a:t>
            </a:r>
          </a:p>
          <a:p>
            <a:pPr marL="114300" indent="0">
              <a:buNone/>
            </a:pPr>
            <a:r>
              <a:rPr lang="en-US" sz="2000" dirty="0"/>
              <a:t>   • Analysis methodology?</a:t>
            </a:r>
          </a:p>
          <a:p>
            <a:pPr marL="114300" indent="0">
              <a:buNone/>
            </a:pPr>
            <a:r>
              <a:rPr lang="en-US" sz="2000" dirty="0"/>
              <a:t>   • Business insights?</a:t>
            </a:r>
          </a:p>
          <a:p>
            <a:pPr marL="114300" indent="0">
              <a:buNone/>
            </a:pPr>
            <a:r>
              <a:rPr lang="en-US" sz="2000" dirty="0"/>
              <a:t>   • Future enhancements?</a:t>
            </a:r>
            <a:endParaRPr lang="en-US" sz="2000" b="1" dirty="0"/>
          </a:p>
          <a:p>
            <a:pPr marL="114300" indent="0">
              <a:lnSpc>
                <a:spcPct val="150000"/>
              </a:lnSpc>
              <a:buNone/>
            </a:pPr>
            <a:r>
              <a:rPr lang="en-US" sz="2000" b="1" dirty="0"/>
              <a:t>📧 Contact:</a:t>
            </a:r>
          </a:p>
          <a:p>
            <a:pPr marL="114300" indent="0">
              <a:buNone/>
            </a:pPr>
            <a:r>
              <a:rPr lang="en-US" sz="2000" dirty="0"/>
              <a:t>   Email: sk.ramthu.23@gmail.com</a:t>
            </a:r>
          </a:p>
          <a:p>
            <a:pPr marL="114300" indent="0">
              <a:buNone/>
            </a:pPr>
            <a:r>
              <a:rPr lang="en-US" sz="2000" dirty="0"/>
              <a:t>   LinkedIn: [Your Profile]</a:t>
            </a:r>
          </a:p>
          <a:p>
            <a:pPr marL="114300" indent="0">
              <a:buNone/>
            </a:pPr>
            <a:r>
              <a:rPr lang="en-US" sz="2000" dirty="0"/>
              <a:t>   GitHub: [Your Repository]</a:t>
            </a:r>
          </a:p>
          <a:p>
            <a:pPr marL="114300" indent="0">
              <a:lnSpc>
                <a:spcPct val="150000"/>
              </a:lnSpc>
              <a:buNone/>
            </a:pPr>
            <a:r>
              <a:rPr lang="en-US" sz="2000" b="1" dirty="0"/>
              <a:t>💡 Thank you for your attention!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54468513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466516" y="1850749"/>
            <a:ext cx="4465643" cy="2834317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p5"/>
          <p:cNvSpPr txBox="1"/>
          <p:nvPr/>
        </p:nvSpPr>
        <p:spPr>
          <a:xfrm>
            <a:off x="2063649" y="2498466"/>
            <a:ext cx="3661836" cy="769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4400"/>
              <a:buFont typeface="Libre Baskerville"/>
              <a:buNone/>
            </a:pPr>
            <a:r>
              <a:rPr lang="en-IN" sz="4400" b="0" i="0" u="none" strike="noStrike" cap="none" dirty="0">
                <a:solidFill>
                  <a:srgbClr val="C00000"/>
                </a:solidFill>
                <a:latin typeface="Libre Baskerville"/>
                <a:ea typeface="Libre Baskerville"/>
                <a:cs typeface="Libre Baskerville"/>
                <a:sym typeface="Libre Baskerville"/>
              </a:rPr>
              <a:t>THANK YOU</a:t>
            </a: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49</TotalTime>
  <Words>881</Words>
  <Application>Microsoft Office PowerPoint</Application>
  <PresentationFormat>Widescreen</PresentationFormat>
  <Paragraphs>162</Paragraphs>
  <Slides>14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Calibri</vt:lpstr>
      <vt:lpstr>Arial</vt:lpstr>
      <vt:lpstr>Libre Baskerville</vt:lpstr>
      <vt:lpstr>Lato Black</vt:lpstr>
      <vt:lpstr>Office Theme</vt:lpstr>
      <vt:lpstr>PowerPoint Presentation</vt:lpstr>
      <vt:lpstr>PowerPoint Presentation</vt:lpstr>
      <vt:lpstr>Agenda</vt:lpstr>
      <vt:lpstr>OBJECTIVE OF THE PROJECT</vt:lpstr>
      <vt:lpstr>KEY ANALYSIS QUESTIONS</vt:lpstr>
      <vt:lpstr>KEY ANALYSIS QUESTIONS</vt:lpstr>
      <vt:lpstr>SQL ANALYSIS &amp; CONCEPTS USED</vt:lpstr>
      <vt:lpstr>OVERALL KEY FINDINGS</vt:lpstr>
      <vt:lpstr>CONCLUSION</vt:lpstr>
      <vt:lpstr>MY EXPERIENCE / CHALLENGES</vt:lpstr>
      <vt:lpstr>MY EXPERIENCE / CHALLENGES</vt:lpstr>
      <vt:lpstr>WHAT I LEARNED</vt:lpstr>
      <vt:lpstr>Q&amp;A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Raghu Ram Aduri</dc:creator>
  <cp:lastModifiedBy>Ramthu 😴</cp:lastModifiedBy>
  <cp:revision>6</cp:revision>
  <dcterms:created xsi:type="dcterms:W3CDTF">2021-02-16T05:19:01Z</dcterms:created>
  <dcterms:modified xsi:type="dcterms:W3CDTF">2026-08-29T08:08:05Z</dcterms:modified>
</cp:coreProperties>
</file>